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7776000" cx="10044000"/>
  <p:notesSz cx="6858000" cy="9144000"/>
  <p:embeddedFontLst>
    <p:embeddedFont>
      <p:font typeface="Comforta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7">
          <p15:clr>
            <a:srgbClr val="A4A3A4"/>
          </p15:clr>
        </p15:guide>
        <p15:guide id="2" pos="227">
          <p15:clr>
            <a:srgbClr val="A4A3A4"/>
          </p15:clr>
        </p15:guide>
        <p15:guide id="3" pos="6100">
          <p15:clr>
            <a:srgbClr val="9AA0A6"/>
          </p15:clr>
        </p15:guide>
        <p15:guide id="4" orient="horz" pos="467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7" orient="horz"/>
        <p:guide pos="227"/>
        <p:guide pos="6100"/>
        <p:guide pos="4671"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mforta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Comforta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f89479dc99_0_13: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f89479dc9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f89479dc99_0_0: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f89479dc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f89479dc99_0_25: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f89479dc9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0d6f980c6_0_8: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0d6f980c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479fe341b_0_11: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479fe341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0d6f980c6_0_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0d6f980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c7778f311_0_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c7778f3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c7778f311_0_13: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c7778f31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c7778f311_0_22: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c7778f31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0d6f980c6_0_13: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0d6f980c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0d6f980c6_0_19: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0d6f980c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0d6f980c6_0_27: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0d6f980c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50238d8fa_0_27: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50238d8f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50238d8fa_0_49: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50238d8f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50238d8fa_0_58: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50238d8f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50238d8fa_0_38: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50238d8f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50238d8fa_0_72: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50238d8f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50238d8fa_0_2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50238d8f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d6b6bf6de_0_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d6b6bf6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d6b6bf6de_0_2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d6b6bf6d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d6b6bf6de_0_11: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d6b6bf6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d6b6bf6de_0_4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d6b6bf6d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d6b6bf6de_0_31: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cd6b6bf6d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52ee63914_0_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c52ee639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52ee63914_0_2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52ee6391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c52ee63914_0_11:notes"/>
          <p:cNvSpPr/>
          <p:nvPr>
            <p:ph idx="2" type="sldImg"/>
          </p:nvPr>
        </p:nvSpPr>
        <p:spPr>
          <a:xfrm>
            <a:off x="121473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c52ee6391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52ee63914_0_40: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c52ee6391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0d6f980c6_0_32:notes"/>
          <p:cNvSpPr/>
          <p:nvPr>
            <p:ph idx="2" type="sldImg"/>
          </p:nvPr>
        </p:nvSpPr>
        <p:spPr>
          <a:xfrm>
            <a:off x="1214748" y="685800"/>
            <a:ext cx="44292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0d6f980c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388" y="1125657"/>
            <a:ext cx="9359100" cy="3103200"/>
          </a:xfrm>
          <a:prstGeom prst="rect">
            <a:avLst/>
          </a:prstGeom>
        </p:spPr>
        <p:txBody>
          <a:bodyPr anchorCtr="0" anchor="b" bIns="113025" lIns="113025" spcFirstLastPara="1" rIns="113025" wrap="square" tIns="113025">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p:txBody>
      </p:sp>
      <p:sp>
        <p:nvSpPr>
          <p:cNvPr id="11" name="Google Shape;11;p2"/>
          <p:cNvSpPr txBox="1"/>
          <p:nvPr>
            <p:ph idx="1" type="subTitle"/>
          </p:nvPr>
        </p:nvSpPr>
        <p:spPr>
          <a:xfrm>
            <a:off x="342379" y="4284661"/>
            <a:ext cx="9359100" cy="1198200"/>
          </a:xfrm>
          <a:prstGeom prst="rect">
            <a:avLst/>
          </a:prstGeom>
        </p:spPr>
        <p:txBody>
          <a:bodyPr anchorCtr="0" anchor="t" bIns="113025" lIns="113025" spcFirstLastPara="1" rIns="113025" wrap="square" tIns="113025">
            <a:normAutofit/>
          </a:bodyPr>
          <a:lstStyle>
            <a:lvl1pPr lvl="0" algn="ctr">
              <a:lnSpc>
                <a:spcPct val="100000"/>
              </a:lnSpc>
              <a:spcBef>
                <a:spcPts val="0"/>
              </a:spcBef>
              <a:spcAft>
                <a:spcPts val="0"/>
              </a:spcAft>
              <a:buSzPts val="3500"/>
              <a:buNone/>
              <a:defRPr sz="3500"/>
            </a:lvl1pPr>
            <a:lvl2pPr lvl="1" algn="ctr">
              <a:lnSpc>
                <a:spcPct val="100000"/>
              </a:lnSpc>
              <a:spcBef>
                <a:spcPts val="0"/>
              </a:spcBef>
              <a:spcAft>
                <a:spcPts val="0"/>
              </a:spcAft>
              <a:buSzPts val="3500"/>
              <a:buNone/>
              <a:defRPr sz="3500"/>
            </a:lvl2pPr>
            <a:lvl3pPr lvl="2" algn="ctr">
              <a:lnSpc>
                <a:spcPct val="100000"/>
              </a:lnSpc>
              <a:spcBef>
                <a:spcPts val="0"/>
              </a:spcBef>
              <a:spcAft>
                <a:spcPts val="0"/>
              </a:spcAft>
              <a:buSzPts val="3500"/>
              <a:buNone/>
              <a:defRPr sz="3500"/>
            </a:lvl3pPr>
            <a:lvl4pPr lvl="3" algn="ctr">
              <a:lnSpc>
                <a:spcPct val="100000"/>
              </a:lnSpc>
              <a:spcBef>
                <a:spcPts val="0"/>
              </a:spcBef>
              <a:spcAft>
                <a:spcPts val="0"/>
              </a:spcAft>
              <a:buSzPts val="3500"/>
              <a:buNone/>
              <a:defRPr sz="3500"/>
            </a:lvl4pPr>
            <a:lvl5pPr lvl="4" algn="ctr">
              <a:lnSpc>
                <a:spcPct val="100000"/>
              </a:lnSpc>
              <a:spcBef>
                <a:spcPts val="0"/>
              </a:spcBef>
              <a:spcAft>
                <a:spcPts val="0"/>
              </a:spcAft>
              <a:buSzPts val="3500"/>
              <a:buNone/>
              <a:defRPr sz="3500"/>
            </a:lvl5pPr>
            <a:lvl6pPr lvl="5" algn="ctr">
              <a:lnSpc>
                <a:spcPct val="100000"/>
              </a:lnSpc>
              <a:spcBef>
                <a:spcPts val="0"/>
              </a:spcBef>
              <a:spcAft>
                <a:spcPts val="0"/>
              </a:spcAft>
              <a:buSzPts val="3500"/>
              <a:buNone/>
              <a:defRPr sz="3500"/>
            </a:lvl6pPr>
            <a:lvl7pPr lvl="6" algn="ctr">
              <a:lnSpc>
                <a:spcPct val="100000"/>
              </a:lnSpc>
              <a:spcBef>
                <a:spcPts val="0"/>
              </a:spcBef>
              <a:spcAft>
                <a:spcPts val="0"/>
              </a:spcAft>
              <a:buSzPts val="3500"/>
              <a:buNone/>
              <a:defRPr sz="3500"/>
            </a:lvl7pPr>
            <a:lvl8pPr lvl="7" algn="ctr">
              <a:lnSpc>
                <a:spcPct val="100000"/>
              </a:lnSpc>
              <a:spcBef>
                <a:spcPts val="0"/>
              </a:spcBef>
              <a:spcAft>
                <a:spcPts val="0"/>
              </a:spcAft>
              <a:buSzPts val="3500"/>
              <a:buNone/>
              <a:defRPr sz="3500"/>
            </a:lvl8pPr>
            <a:lvl9pPr lvl="8" algn="ctr">
              <a:lnSpc>
                <a:spcPct val="100000"/>
              </a:lnSpc>
              <a:spcBef>
                <a:spcPts val="0"/>
              </a:spcBef>
              <a:spcAft>
                <a:spcPts val="0"/>
              </a:spcAft>
              <a:buSzPts val="3500"/>
              <a:buNone/>
              <a:defRPr sz="3500"/>
            </a:lvl9pPr>
          </a:lstStyle>
          <a:p/>
        </p:txBody>
      </p:sp>
      <p:sp>
        <p:nvSpPr>
          <p:cNvPr id="12" name="Google Shape;12;p2"/>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379" y="3251679"/>
            <a:ext cx="9359100" cy="1272600"/>
          </a:xfrm>
          <a:prstGeom prst="rect">
            <a:avLst/>
          </a:prstGeom>
        </p:spPr>
        <p:txBody>
          <a:bodyPr anchorCtr="0" anchor="ctr" bIns="113025" lIns="113025" spcFirstLastPara="1" rIns="113025" wrap="square" tIns="113025">
            <a:norm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p:txBody>
      </p:sp>
      <p:sp>
        <p:nvSpPr>
          <p:cNvPr id="15" name="Google Shape;15;p3"/>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379" y="672794"/>
            <a:ext cx="9359100" cy="865800"/>
          </a:xfrm>
          <a:prstGeom prst="rect">
            <a:avLst/>
          </a:prstGeom>
        </p:spPr>
        <p:txBody>
          <a:bodyPr anchorCtr="0" anchor="t" bIns="113025" lIns="113025" spcFirstLastPara="1" rIns="113025" wrap="square" tIns="1130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 name="Google Shape;18;p4"/>
          <p:cNvSpPr txBox="1"/>
          <p:nvPr>
            <p:ph idx="1" type="body"/>
          </p:nvPr>
        </p:nvSpPr>
        <p:spPr>
          <a:xfrm>
            <a:off x="342379" y="1742324"/>
            <a:ext cx="9359100" cy="5165100"/>
          </a:xfrm>
          <a:prstGeom prst="rect">
            <a:avLst/>
          </a:prstGeom>
        </p:spPr>
        <p:txBody>
          <a:bodyPr anchorCtr="0" anchor="t" bIns="113025" lIns="113025" spcFirstLastPara="1" rIns="113025" wrap="square" tIns="11302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379" y="672794"/>
            <a:ext cx="9359100" cy="865800"/>
          </a:xfrm>
          <a:prstGeom prst="rect">
            <a:avLst/>
          </a:prstGeom>
        </p:spPr>
        <p:txBody>
          <a:bodyPr anchorCtr="0" anchor="t" bIns="113025" lIns="113025" spcFirstLastPara="1" rIns="113025" wrap="square" tIns="1130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 name="Google Shape;22;p5"/>
          <p:cNvSpPr txBox="1"/>
          <p:nvPr>
            <p:ph idx="1" type="body"/>
          </p:nvPr>
        </p:nvSpPr>
        <p:spPr>
          <a:xfrm>
            <a:off x="342379" y="1742324"/>
            <a:ext cx="4393500" cy="5165100"/>
          </a:xfrm>
          <a:prstGeom prst="rect">
            <a:avLst/>
          </a:prstGeom>
        </p:spPr>
        <p:txBody>
          <a:bodyPr anchorCtr="0" anchor="t" bIns="113025" lIns="113025" spcFirstLastPara="1" rIns="113025" wrap="square" tIns="11302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3" name="Google Shape;23;p5"/>
          <p:cNvSpPr txBox="1"/>
          <p:nvPr>
            <p:ph idx="2" type="body"/>
          </p:nvPr>
        </p:nvSpPr>
        <p:spPr>
          <a:xfrm>
            <a:off x="5308030" y="1742324"/>
            <a:ext cx="4393500" cy="5165100"/>
          </a:xfrm>
          <a:prstGeom prst="rect">
            <a:avLst/>
          </a:prstGeom>
        </p:spPr>
        <p:txBody>
          <a:bodyPr anchorCtr="0" anchor="t" bIns="113025" lIns="113025" spcFirstLastPara="1" rIns="113025" wrap="square" tIns="11302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4" name="Google Shape;24;p5"/>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379" y="672794"/>
            <a:ext cx="9359100" cy="865800"/>
          </a:xfrm>
          <a:prstGeom prst="rect">
            <a:avLst/>
          </a:prstGeom>
        </p:spPr>
        <p:txBody>
          <a:bodyPr anchorCtr="0" anchor="t" bIns="113025" lIns="113025" spcFirstLastPara="1" rIns="113025" wrap="square" tIns="1130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 name="Google Shape;27;p6"/>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379" y="839962"/>
            <a:ext cx="3084300" cy="1142400"/>
          </a:xfrm>
          <a:prstGeom prst="rect">
            <a:avLst/>
          </a:prstGeom>
        </p:spPr>
        <p:txBody>
          <a:bodyPr anchorCtr="0" anchor="b" bIns="113025" lIns="113025" spcFirstLastPara="1" rIns="113025" wrap="square" tIns="1130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 name="Google Shape;30;p7"/>
          <p:cNvSpPr txBox="1"/>
          <p:nvPr>
            <p:ph idx="1" type="body"/>
          </p:nvPr>
        </p:nvSpPr>
        <p:spPr>
          <a:xfrm>
            <a:off x="342379" y="2100813"/>
            <a:ext cx="3084300" cy="4806600"/>
          </a:xfrm>
          <a:prstGeom prst="rect">
            <a:avLst/>
          </a:prstGeom>
        </p:spPr>
        <p:txBody>
          <a:bodyPr anchorCtr="0" anchor="t" bIns="113025" lIns="113025" spcFirstLastPara="1" rIns="113025" wrap="square" tIns="113025">
            <a:normAutofit/>
          </a:bodyPr>
          <a:lstStyle>
            <a:lvl1pPr indent="-323850" lvl="0" marL="457200">
              <a:spcBef>
                <a:spcPts val="0"/>
              </a:spcBef>
              <a:spcAft>
                <a:spcPts val="0"/>
              </a:spcAft>
              <a:buSzPts val="1500"/>
              <a:buChar char="●"/>
              <a:defRPr sz="15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31" name="Google Shape;31;p7"/>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8503" y="680542"/>
            <a:ext cx="6994500" cy="6184500"/>
          </a:xfrm>
          <a:prstGeom prst="rect">
            <a:avLst/>
          </a:prstGeom>
        </p:spPr>
        <p:txBody>
          <a:bodyPr anchorCtr="0" anchor="ctr" bIns="113025" lIns="113025" spcFirstLastPara="1" rIns="113025" wrap="square" tIns="113025">
            <a:normAutofit/>
          </a:bodyPr>
          <a:lstStyle>
            <a:lvl1pPr lvl="0">
              <a:spcBef>
                <a:spcPts val="0"/>
              </a:spcBef>
              <a:spcAft>
                <a:spcPts val="0"/>
              </a:spcAft>
              <a:buSzPts val="5900"/>
              <a:buNone/>
              <a:defRPr sz="5900"/>
            </a:lvl1pPr>
            <a:lvl2pPr lvl="1">
              <a:spcBef>
                <a:spcPts val="0"/>
              </a:spcBef>
              <a:spcAft>
                <a:spcPts val="0"/>
              </a:spcAft>
              <a:buSzPts val="5900"/>
              <a:buNone/>
              <a:defRPr sz="5900"/>
            </a:lvl2pPr>
            <a:lvl3pPr lvl="2">
              <a:spcBef>
                <a:spcPts val="0"/>
              </a:spcBef>
              <a:spcAft>
                <a:spcPts val="0"/>
              </a:spcAft>
              <a:buSzPts val="5900"/>
              <a:buNone/>
              <a:defRPr sz="5900"/>
            </a:lvl3pPr>
            <a:lvl4pPr lvl="3">
              <a:spcBef>
                <a:spcPts val="0"/>
              </a:spcBef>
              <a:spcAft>
                <a:spcPts val="0"/>
              </a:spcAft>
              <a:buSzPts val="5900"/>
              <a:buNone/>
              <a:defRPr sz="5900"/>
            </a:lvl4pPr>
            <a:lvl5pPr lvl="4">
              <a:spcBef>
                <a:spcPts val="0"/>
              </a:spcBef>
              <a:spcAft>
                <a:spcPts val="0"/>
              </a:spcAft>
              <a:buSzPts val="5900"/>
              <a:buNone/>
              <a:defRPr sz="5900"/>
            </a:lvl5pPr>
            <a:lvl6pPr lvl="5">
              <a:spcBef>
                <a:spcPts val="0"/>
              </a:spcBef>
              <a:spcAft>
                <a:spcPts val="0"/>
              </a:spcAft>
              <a:buSzPts val="5900"/>
              <a:buNone/>
              <a:defRPr sz="5900"/>
            </a:lvl6pPr>
            <a:lvl7pPr lvl="6">
              <a:spcBef>
                <a:spcPts val="0"/>
              </a:spcBef>
              <a:spcAft>
                <a:spcPts val="0"/>
              </a:spcAft>
              <a:buSzPts val="5900"/>
              <a:buNone/>
              <a:defRPr sz="5900"/>
            </a:lvl7pPr>
            <a:lvl8pPr lvl="7">
              <a:spcBef>
                <a:spcPts val="0"/>
              </a:spcBef>
              <a:spcAft>
                <a:spcPts val="0"/>
              </a:spcAft>
              <a:buSzPts val="5900"/>
              <a:buNone/>
              <a:defRPr sz="5900"/>
            </a:lvl8pPr>
            <a:lvl9pPr lvl="8">
              <a:spcBef>
                <a:spcPts val="0"/>
              </a:spcBef>
              <a:spcAft>
                <a:spcPts val="0"/>
              </a:spcAft>
              <a:buSzPts val="5900"/>
              <a:buNone/>
              <a:defRPr sz="5900"/>
            </a:lvl9pPr>
          </a:lstStyle>
          <a:p/>
        </p:txBody>
      </p:sp>
      <p:sp>
        <p:nvSpPr>
          <p:cNvPr id="34" name="Google Shape;34;p8"/>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2000" y="-189"/>
            <a:ext cx="5022000" cy="7776000"/>
          </a:xfrm>
          <a:prstGeom prst="rect">
            <a:avLst/>
          </a:prstGeom>
          <a:solidFill>
            <a:schemeClr val="lt2"/>
          </a:solidFill>
          <a:ln>
            <a:noFill/>
          </a:ln>
        </p:spPr>
        <p:txBody>
          <a:bodyPr anchorCtr="0" anchor="ctr" bIns="113025" lIns="113025" spcFirstLastPara="1" rIns="113025" wrap="square" tIns="113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1632" y="1864328"/>
            <a:ext cx="4443300" cy="2241000"/>
          </a:xfrm>
          <a:prstGeom prst="rect">
            <a:avLst/>
          </a:prstGeom>
        </p:spPr>
        <p:txBody>
          <a:bodyPr anchorCtr="0" anchor="b" bIns="113025" lIns="113025" spcFirstLastPara="1" rIns="113025" wrap="square" tIns="1130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 name="Google Shape;38;p9"/>
          <p:cNvSpPr txBox="1"/>
          <p:nvPr>
            <p:ph idx="1" type="subTitle"/>
          </p:nvPr>
        </p:nvSpPr>
        <p:spPr>
          <a:xfrm>
            <a:off x="291632" y="4237720"/>
            <a:ext cx="4443300" cy="1867200"/>
          </a:xfrm>
          <a:prstGeom prst="rect">
            <a:avLst/>
          </a:prstGeom>
        </p:spPr>
        <p:txBody>
          <a:bodyPr anchorCtr="0" anchor="t" bIns="113025" lIns="113025" spcFirstLastPara="1" rIns="113025" wrap="square" tIns="113025">
            <a:norm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39" name="Google Shape;39;p9"/>
          <p:cNvSpPr txBox="1"/>
          <p:nvPr>
            <p:ph idx="2" type="body"/>
          </p:nvPr>
        </p:nvSpPr>
        <p:spPr>
          <a:xfrm>
            <a:off x="5425671" y="1094665"/>
            <a:ext cx="4214700" cy="5586300"/>
          </a:xfrm>
          <a:prstGeom prst="rect">
            <a:avLst/>
          </a:prstGeom>
        </p:spPr>
        <p:txBody>
          <a:bodyPr anchorCtr="0" anchor="ctr" bIns="113025" lIns="113025" spcFirstLastPara="1" rIns="113025" wrap="square" tIns="11302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379" y="6395830"/>
            <a:ext cx="6589200" cy="914700"/>
          </a:xfrm>
          <a:prstGeom prst="rect">
            <a:avLst/>
          </a:prstGeom>
        </p:spPr>
        <p:txBody>
          <a:bodyPr anchorCtr="0" anchor="ctr" bIns="113025" lIns="113025" spcFirstLastPara="1" rIns="113025" wrap="square" tIns="113025">
            <a:normAutofit/>
          </a:bodyPr>
          <a:lstStyle>
            <a:lvl1pPr indent="-228600" lvl="0" marL="457200">
              <a:lnSpc>
                <a:spcPct val="100000"/>
              </a:lnSpc>
              <a:spcBef>
                <a:spcPts val="0"/>
              </a:spcBef>
              <a:spcAft>
                <a:spcPts val="0"/>
              </a:spcAft>
              <a:buSzPts val="2200"/>
              <a:buNone/>
              <a:defRPr/>
            </a:lvl1pPr>
          </a:lstStyle>
          <a:p/>
        </p:txBody>
      </p:sp>
      <p:sp>
        <p:nvSpPr>
          <p:cNvPr id="43" name="Google Shape;43;p10"/>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379" y="1672252"/>
            <a:ext cx="9359100" cy="2968500"/>
          </a:xfrm>
          <a:prstGeom prst="rect">
            <a:avLst/>
          </a:prstGeom>
        </p:spPr>
        <p:txBody>
          <a:bodyPr anchorCtr="0" anchor="b" bIns="113025" lIns="113025" spcFirstLastPara="1" rIns="113025" wrap="square" tIns="113025">
            <a:normAutofit/>
          </a:bodyPr>
          <a:lstStyle>
            <a:lvl1pPr lvl="0" algn="ctr">
              <a:spcBef>
                <a:spcPts val="0"/>
              </a:spcBef>
              <a:spcAft>
                <a:spcPts val="0"/>
              </a:spcAft>
              <a:buSzPts val="14800"/>
              <a:buNone/>
              <a:defRPr sz="14800"/>
            </a:lvl1pPr>
            <a:lvl2pPr lvl="1" algn="ctr">
              <a:spcBef>
                <a:spcPts val="0"/>
              </a:spcBef>
              <a:spcAft>
                <a:spcPts val="0"/>
              </a:spcAft>
              <a:buSzPts val="14800"/>
              <a:buNone/>
              <a:defRPr sz="14800"/>
            </a:lvl2pPr>
            <a:lvl3pPr lvl="2" algn="ctr">
              <a:spcBef>
                <a:spcPts val="0"/>
              </a:spcBef>
              <a:spcAft>
                <a:spcPts val="0"/>
              </a:spcAft>
              <a:buSzPts val="14800"/>
              <a:buNone/>
              <a:defRPr sz="14800"/>
            </a:lvl3pPr>
            <a:lvl4pPr lvl="3" algn="ctr">
              <a:spcBef>
                <a:spcPts val="0"/>
              </a:spcBef>
              <a:spcAft>
                <a:spcPts val="0"/>
              </a:spcAft>
              <a:buSzPts val="14800"/>
              <a:buNone/>
              <a:defRPr sz="14800"/>
            </a:lvl4pPr>
            <a:lvl5pPr lvl="4" algn="ctr">
              <a:spcBef>
                <a:spcPts val="0"/>
              </a:spcBef>
              <a:spcAft>
                <a:spcPts val="0"/>
              </a:spcAft>
              <a:buSzPts val="14800"/>
              <a:buNone/>
              <a:defRPr sz="14800"/>
            </a:lvl5pPr>
            <a:lvl6pPr lvl="5" algn="ctr">
              <a:spcBef>
                <a:spcPts val="0"/>
              </a:spcBef>
              <a:spcAft>
                <a:spcPts val="0"/>
              </a:spcAft>
              <a:buSzPts val="14800"/>
              <a:buNone/>
              <a:defRPr sz="14800"/>
            </a:lvl6pPr>
            <a:lvl7pPr lvl="6" algn="ctr">
              <a:spcBef>
                <a:spcPts val="0"/>
              </a:spcBef>
              <a:spcAft>
                <a:spcPts val="0"/>
              </a:spcAft>
              <a:buSzPts val="14800"/>
              <a:buNone/>
              <a:defRPr sz="14800"/>
            </a:lvl7pPr>
            <a:lvl8pPr lvl="7" algn="ctr">
              <a:spcBef>
                <a:spcPts val="0"/>
              </a:spcBef>
              <a:spcAft>
                <a:spcPts val="0"/>
              </a:spcAft>
              <a:buSzPts val="14800"/>
              <a:buNone/>
              <a:defRPr sz="14800"/>
            </a:lvl8pPr>
            <a:lvl9pPr lvl="8" algn="ctr">
              <a:spcBef>
                <a:spcPts val="0"/>
              </a:spcBef>
              <a:spcAft>
                <a:spcPts val="0"/>
              </a:spcAft>
              <a:buSzPts val="14800"/>
              <a:buNone/>
              <a:defRPr sz="14800"/>
            </a:lvl9pPr>
          </a:lstStyle>
          <a:p>
            <a:r>
              <a:t>xx%</a:t>
            </a:r>
          </a:p>
        </p:txBody>
      </p:sp>
      <p:sp>
        <p:nvSpPr>
          <p:cNvPr id="46" name="Google Shape;46;p11"/>
          <p:cNvSpPr txBox="1"/>
          <p:nvPr>
            <p:ph idx="1" type="body"/>
          </p:nvPr>
        </p:nvSpPr>
        <p:spPr>
          <a:xfrm>
            <a:off x="342379" y="4765569"/>
            <a:ext cx="9359100" cy="1966500"/>
          </a:xfrm>
          <a:prstGeom prst="rect">
            <a:avLst/>
          </a:prstGeom>
        </p:spPr>
        <p:txBody>
          <a:bodyPr anchorCtr="0" anchor="t" bIns="113025" lIns="113025" spcFirstLastPara="1" rIns="113025" wrap="square" tIns="113025">
            <a:normAutofit/>
          </a:bodyPr>
          <a:lstStyle>
            <a:lvl1pPr indent="-368300" lvl="0" marL="457200" algn="ctr">
              <a:spcBef>
                <a:spcPts val="0"/>
              </a:spcBef>
              <a:spcAft>
                <a:spcPts val="0"/>
              </a:spcAft>
              <a:buSzPts val="22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06361" y="7049903"/>
            <a:ext cx="602700" cy="594900"/>
          </a:xfrm>
          <a:prstGeom prst="rect">
            <a:avLst/>
          </a:prstGeom>
        </p:spPr>
        <p:txBody>
          <a:bodyPr anchorCtr="0" anchor="ctr" bIns="113025" lIns="113025" spcFirstLastPara="1" rIns="113025" wrap="square" tIns="1130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379" y="672794"/>
            <a:ext cx="9359100" cy="865800"/>
          </a:xfrm>
          <a:prstGeom prst="rect">
            <a:avLst/>
          </a:prstGeom>
          <a:noFill/>
          <a:ln>
            <a:noFill/>
          </a:ln>
        </p:spPr>
        <p:txBody>
          <a:bodyPr anchorCtr="0" anchor="t" bIns="113025" lIns="113025" spcFirstLastPara="1" rIns="113025" wrap="square" tIns="113025">
            <a:normAutofit/>
          </a:bodyPr>
          <a:lstStyle>
            <a:lvl1pPr lvl="0">
              <a:spcBef>
                <a:spcPts val="0"/>
              </a:spcBef>
              <a:spcAft>
                <a:spcPts val="0"/>
              </a:spcAft>
              <a:buClr>
                <a:schemeClr val="dk1"/>
              </a:buClr>
              <a:buSzPts val="3500"/>
              <a:buNone/>
              <a:defRPr sz="3500">
                <a:solidFill>
                  <a:schemeClr val="dk1"/>
                </a:solidFill>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342379" y="1742324"/>
            <a:ext cx="9359100" cy="5165100"/>
          </a:xfrm>
          <a:prstGeom prst="rect">
            <a:avLst/>
          </a:prstGeom>
          <a:noFill/>
          <a:ln>
            <a:noFill/>
          </a:ln>
        </p:spPr>
        <p:txBody>
          <a:bodyPr anchorCtr="0" anchor="t" bIns="113025" lIns="113025" spcFirstLastPara="1" rIns="113025" wrap="square" tIns="113025">
            <a:normAutofit/>
          </a:bodyPr>
          <a:lstStyle>
            <a:lvl1pPr indent="-368300" lvl="0" marL="457200">
              <a:lnSpc>
                <a:spcPct val="115000"/>
              </a:lnSpc>
              <a:spcBef>
                <a:spcPts val="0"/>
              </a:spcBef>
              <a:spcAft>
                <a:spcPts val="0"/>
              </a:spcAft>
              <a:buClr>
                <a:schemeClr val="dk2"/>
              </a:buClr>
              <a:buSzPts val="2200"/>
              <a:buChar char="●"/>
              <a:defRPr sz="22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9306361" y="7049903"/>
            <a:ext cx="602700" cy="594900"/>
          </a:xfrm>
          <a:prstGeom prst="rect">
            <a:avLst/>
          </a:prstGeom>
          <a:noFill/>
          <a:ln>
            <a:noFill/>
          </a:ln>
        </p:spPr>
        <p:txBody>
          <a:bodyPr anchorCtr="0" anchor="ctr" bIns="113025" lIns="113025" spcFirstLastPara="1" rIns="113025" wrap="square" tIns="11302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35.png"/><Relationship Id="rId5" Type="http://schemas.openxmlformats.org/officeDocument/2006/relationships/image" Target="../media/image3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9.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jpg"/><Relationship Id="rId4" Type="http://schemas.openxmlformats.org/officeDocument/2006/relationships/image" Target="../media/image48.png"/><Relationship Id="rId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3" name="Shape 53"/>
        <p:cNvGrpSpPr/>
        <p:nvPr/>
      </p:nvGrpSpPr>
      <p:grpSpPr>
        <a:xfrm>
          <a:off x="0" y="0"/>
          <a:ext cx="0" cy="0"/>
          <a:chOff x="0" y="0"/>
          <a:chExt cx="0" cy="0"/>
        </a:xfrm>
      </p:grpSpPr>
      <p:pic>
        <p:nvPicPr>
          <p:cNvPr id="54" name="Google Shape;54;p13" title="stock.jpg"/>
          <p:cNvPicPr preferRelativeResize="0"/>
          <p:nvPr/>
        </p:nvPicPr>
        <p:blipFill rotWithShape="1">
          <a:blip r:embed="rId3">
            <a:alphaModFix/>
          </a:blip>
          <a:srcRect b="0" l="16730" r="16723" t="0"/>
          <a:stretch/>
        </p:blipFill>
        <p:spPr>
          <a:xfrm>
            <a:off x="360000" y="152400"/>
            <a:ext cx="7139950" cy="7471200"/>
          </a:xfrm>
          <a:prstGeom prst="rect">
            <a:avLst/>
          </a:prstGeom>
          <a:noFill/>
          <a:ln cap="flat" cmpd="sng" w="152400">
            <a:solidFill>
              <a:schemeClr val="dk2"/>
            </a:solidFill>
            <a:prstDash val="dash"/>
            <a:round/>
            <a:headEnd len="sm" w="sm" type="none"/>
            <a:tailEnd len="sm" w="sm" type="none"/>
          </a:ln>
        </p:spPr>
      </p:pic>
      <p:sp>
        <p:nvSpPr>
          <p:cNvPr id="55" name="Google Shape;55;p13"/>
          <p:cNvSpPr txBox="1"/>
          <p:nvPr/>
        </p:nvSpPr>
        <p:spPr>
          <a:xfrm>
            <a:off x="3997775" y="268775"/>
            <a:ext cx="59475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9600">
                <a:highlight>
                  <a:schemeClr val="lt2"/>
                </a:highlight>
                <a:latin typeface="Courier New"/>
                <a:ea typeface="Courier New"/>
                <a:cs typeface="Courier New"/>
                <a:sym typeface="Courier New"/>
              </a:rPr>
              <a:t>Project</a:t>
            </a:r>
            <a:endParaRPr sz="9600">
              <a:highlight>
                <a:schemeClr val="lt2"/>
              </a:highlight>
              <a:latin typeface="Courier New"/>
              <a:ea typeface="Courier New"/>
              <a:cs typeface="Courier New"/>
              <a:sym typeface="Courier New"/>
            </a:endParaRPr>
          </a:p>
        </p:txBody>
      </p:sp>
      <p:sp>
        <p:nvSpPr>
          <p:cNvPr id="56" name="Google Shape;56;p13"/>
          <p:cNvSpPr txBox="1"/>
          <p:nvPr/>
        </p:nvSpPr>
        <p:spPr>
          <a:xfrm>
            <a:off x="7973100" y="2329275"/>
            <a:ext cx="1791600" cy="500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ru" sz="1600" u="sng">
                <a:latin typeface="Courier New"/>
                <a:ea typeface="Courier New"/>
                <a:cs typeface="Courier New"/>
                <a:sym typeface="Courier New"/>
              </a:rPr>
              <a:t>Your Boss:</a:t>
            </a:r>
            <a:br>
              <a:rPr b="1" lang="ru" sz="1600" u="sng">
                <a:latin typeface="Courier New"/>
                <a:ea typeface="Courier New"/>
                <a:cs typeface="Courier New"/>
                <a:sym typeface="Courier New"/>
              </a:rPr>
            </a:br>
            <a:br>
              <a:rPr b="1" lang="ru" sz="1100">
                <a:latin typeface="Courier New"/>
                <a:ea typeface="Courier New"/>
                <a:cs typeface="Courier New"/>
                <a:sym typeface="Courier New"/>
              </a:rPr>
            </a:br>
            <a:r>
              <a:rPr lang="ru" sz="1100">
                <a:latin typeface="Courier New"/>
                <a:ea typeface="Courier New"/>
                <a:cs typeface="Courier New"/>
                <a:sym typeface="Courier New"/>
              </a:rPr>
              <a:t>“Build a 12-month equity portfolio forecasting and risk assessment model.</a:t>
            </a:r>
            <a:endParaRPr sz="1100">
              <a:latin typeface="Courier New"/>
              <a:ea typeface="Courier New"/>
              <a:cs typeface="Courier New"/>
              <a:sym typeface="Courier New"/>
            </a:endParaRPr>
          </a:p>
          <a:p>
            <a:pPr indent="0" lvl="0" marL="0" rtl="0" algn="r">
              <a:spcBef>
                <a:spcPts val="0"/>
              </a:spcBef>
              <a:spcAft>
                <a:spcPts val="0"/>
              </a:spcAft>
              <a:buNone/>
            </a:pPr>
            <a:r>
              <a:rPr lang="ru" sz="1100">
                <a:latin typeface="Courier New"/>
                <a:ea typeface="Courier New"/>
                <a:cs typeface="Courier New"/>
                <a:sym typeface="Courier New"/>
              </a:rPr>
              <a:t>Quantify downside exposure under multiple macro scenarios and recommend allocation adjustments to reduce portfolio risk.”</a:t>
            </a:r>
            <a:br>
              <a:rPr b="1" lang="ru" sz="1100">
                <a:latin typeface="Courier New"/>
                <a:ea typeface="Courier New"/>
                <a:cs typeface="Courier New"/>
                <a:sym typeface="Courier New"/>
              </a:rPr>
            </a:br>
            <a:br>
              <a:rPr b="1" lang="ru" sz="1100">
                <a:latin typeface="Courier New"/>
                <a:ea typeface="Courier New"/>
                <a:cs typeface="Courier New"/>
                <a:sym typeface="Courier New"/>
              </a:rPr>
            </a:br>
            <a:br>
              <a:rPr b="1" lang="ru" sz="1100">
                <a:latin typeface="Courier New"/>
                <a:ea typeface="Courier New"/>
                <a:cs typeface="Courier New"/>
                <a:sym typeface="Courier New"/>
              </a:rPr>
            </a:br>
            <a:r>
              <a:rPr b="1" lang="ru" sz="1100" u="sng">
                <a:latin typeface="Courier New"/>
                <a:ea typeface="Courier New"/>
                <a:cs typeface="Courier New"/>
                <a:sym typeface="Courier New"/>
              </a:rPr>
              <a:t>You are acting as:</a:t>
            </a:r>
            <a:endParaRPr b="1" sz="1100" u="sng">
              <a:latin typeface="Courier New"/>
              <a:ea typeface="Courier New"/>
              <a:cs typeface="Courier New"/>
              <a:sym typeface="Courier New"/>
            </a:endParaRPr>
          </a:p>
          <a:p>
            <a:pPr indent="0" lvl="0" marL="0" rtl="0" algn="r">
              <a:spcBef>
                <a:spcPts val="0"/>
              </a:spcBef>
              <a:spcAft>
                <a:spcPts val="0"/>
              </a:spcAft>
              <a:buNone/>
            </a:pPr>
            <a:r>
              <a:t/>
            </a:r>
            <a:endParaRPr b="1" sz="1100" u="sng">
              <a:latin typeface="Courier New"/>
              <a:ea typeface="Courier New"/>
              <a:cs typeface="Courier New"/>
              <a:sym typeface="Courier New"/>
            </a:endParaRPr>
          </a:p>
          <a:p>
            <a:pPr indent="0" lvl="0" marL="0" rtl="0" algn="r">
              <a:spcBef>
                <a:spcPts val="0"/>
              </a:spcBef>
              <a:spcAft>
                <a:spcPts val="0"/>
              </a:spcAft>
              <a:buNone/>
            </a:pPr>
            <a:r>
              <a:rPr lang="ru" sz="1100">
                <a:latin typeface="Courier New"/>
                <a:ea typeface="Courier New"/>
                <a:cs typeface="Courier New"/>
                <a:sym typeface="Courier New"/>
              </a:rPr>
              <a:t>Junior Risk Analyst</a:t>
            </a:r>
            <a:endParaRPr sz="1100">
              <a:latin typeface="Courier New"/>
              <a:ea typeface="Courier New"/>
              <a:cs typeface="Courier New"/>
              <a:sym typeface="Courier New"/>
            </a:endParaRPr>
          </a:p>
          <a:p>
            <a:pPr indent="0" lvl="0" marL="0" rtl="0" algn="r">
              <a:spcBef>
                <a:spcPts val="0"/>
              </a:spcBef>
              <a:spcAft>
                <a:spcPts val="0"/>
              </a:spcAft>
              <a:buNone/>
            </a:pPr>
            <a:r>
              <a:t/>
            </a:r>
            <a:endParaRPr sz="1100">
              <a:latin typeface="Courier New"/>
              <a:ea typeface="Courier New"/>
              <a:cs typeface="Courier New"/>
              <a:sym typeface="Courier New"/>
            </a:endParaRPr>
          </a:p>
          <a:p>
            <a:pPr indent="0" lvl="0" marL="0" rtl="0" algn="r">
              <a:spcBef>
                <a:spcPts val="0"/>
              </a:spcBef>
              <a:spcAft>
                <a:spcPts val="0"/>
              </a:spcAft>
              <a:buNone/>
            </a:pPr>
            <a:r>
              <a:rPr lang="ru" sz="1100">
                <a:latin typeface="Courier New"/>
                <a:ea typeface="Courier New"/>
                <a:cs typeface="Courier New"/>
                <a:sym typeface="Courier New"/>
              </a:rPr>
              <a:t>Finance &amp; Strategy Analyst</a:t>
            </a:r>
            <a:endParaRPr sz="1100">
              <a:latin typeface="Courier New"/>
              <a:ea typeface="Courier New"/>
              <a:cs typeface="Courier New"/>
              <a:sym typeface="Courier New"/>
            </a:endParaRPr>
          </a:p>
          <a:p>
            <a:pPr indent="0" lvl="0" marL="0" rtl="0" algn="r">
              <a:spcBef>
                <a:spcPts val="0"/>
              </a:spcBef>
              <a:spcAft>
                <a:spcPts val="0"/>
              </a:spcAft>
              <a:buNone/>
            </a:pPr>
            <a:r>
              <a:t/>
            </a:r>
            <a:endParaRPr sz="1100">
              <a:latin typeface="Courier New"/>
              <a:ea typeface="Courier New"/>
              <a:cs typeface="Courier New"/>
              <a:sym typeface="Courier New"/>
            </a:endParaRPr>
          </a:p>
          <a:p>
            <a:pPr indent="0" lvl="0" marL="0" rtl="0" algn="r">
              <a:spcBef>
                <a:spcPts val="0"/>
              </a:spcBef>
              <a:spcAft>
                <a:spcPts val="0"/>
              </a:spcAft>
              <a:buNone/>
            </a:pPr>
            <a:r>
              <a:rPr lang="ru" sz="1100">
                <a:latin typeface="Courier New"/>
                <a:ea typeface="Courier New"/>
                <a:cs typeface="Courier New"/>
                <a:sym typeface="Courier New"/>
              </a:rPr>
              <a:t>Fintech Data Analyst</a:t>
            </a:r>
            <a:br>
              <a:rPr b="1" lang="ru" sz="1100">
                <a:latin typeface="Courier New"/>
                <a:ea typeface="Courier New"/>
                <a:cs typeface="Courier New"/>
                <a:sym typeface="Courier New"/>
              </a:rPr>
            </a:br>
            <a:endParaRPr b="1" sz="1100">
              <a:latin typeface="Courier New"/>
              <a:ea typeface="Courier New"/>
              <a:cs typeface="Courier New"/>
              <a:sym typeface="Courier Ne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0" name="Shape 60"/>
        <p:cNvGrpSpPr/>
        <p:nvPr/>
      </p:nvGrpSpPr>
      <p:grpSpPr>
        <a:xfrm>
          <a:off x="0" y="0"/>
          <a:ext cx="0" cy="0"/>
          <a:chOff x="0" y="0"/>
          <a:chExt cx="0" cy="0"/>
        </a:xfrm>
      </p:grpSpPr>
      <p:pic>
        <p:nvPicPr>
          <p:cNvPr id="61" name="Google Shape;61;p14" title="Screenshot 2026-02-26 102354.png"/>
          <p:cNvPicPr preferRelativeResize="0"/>
          <p:nvPr/>
        </p:nvPicPr>
        <p:blipFill rotWithShape="1">
          <a:blip r:embed="rId3">
            <a:alphaModFix/>
          </a:blip>
          <a:srcRect b="0" l="0" r="18593" t="0"/>
          <a:stretch/>
        </p:blipFill>
        <p:spPr>
          <a:xfrm>
            <a:off x="4178225" y="789500"/>
            <a:ext cx="2526225" cy="2526225"/>
          </a:xfrm>
          <a:prstGeom prst="rect">
            <a:avLst/>
          </a:prstGeom>
          <a:noFill/>
          <a:ln>
            <a:noFill/>
          </a:ln>
        </p:spPr>
      </p:pic>
      <p:pic>
        <p:nvPicPr>
          <p:cNvPr id="62" name="Google Shape;62;p14" title="Screenshot 2026-02-26 103232.png"/>
          <p:cNvPicPr preferRelativeResize="0"/>
          <p:nvPr/>
        </p:nvPicPr>
        <p:blipFill rotWithShape="1">
          <a:blip r:embed="rId4">
            <a:alphaModFix/>
          </a:blip>
          <a:srcRect b="0" l="8486" r="8486" t="0"/>
          <a:stretch/>
        </p:blipFill>
        <p:spPr>
          <a:xfrm>
            <a:off x="7157773" y="789500"/>
            <a:ext cx="2526224" cy="2526224"/>
          </a:xfrm>
          <a:prstGeom prst="rect">
            <a:avLst/>
          </a:prstGeom>
          <a:noFill/>
          <a:ln>
            <a:noFill/>
          </a:ln>
        </p:spPr>
      </p:pic>
      <p:pic>
        <p:nvPicPr>
          <p:cNvPr id="63" name="Google Shape;63;p14" title="Screenshot 2026-02-26 104040.png"/>
          <p:cNvPicPr preferRelativeResize="0"/>
          <p:nvPr/>
        </p:nvPicPr>
        <p:blipFill rotWithShape="1">
          <a:blip r:embed="rId5">
            <a:alphaModFix/>
          </a:blip>
          <a:srcRect b="0" l="0" r="30982" t="0"/>
          <a:stretch/>
        </p:blipFill>
        <p:spPr>
          <a:xfrm>
            <a:off x="5170675" y="3869400"/>
            <a:ext cx="4513326" cy="3008149"/>
          </a:xfrm>
          <a:prstGeom prst="rect">
            <a:avLst/>
          </a:prstGeom>
          <a:noFill/>
          <a:ln>
            <a:noFill/>
          </a:ln>
        </p:spPr>
      </p:pic>
      <p:sp>
        <p:nvSpPr>
          <p:cNvPr id="64" name="Google Shape;64;p14"/>
          <p:cNvSpPr txBox="1"/>
          <p:nvPr/>
        </p:nvSpPr>
        <p:spPr>
          <a:xfrm>
            <a:off x="360000" y="0"/>
            <a:ext cx="3505500" cy="372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-Select portfolio assets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-Download clean historical data</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-Organize project folders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-Set up SQL environment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-Understand what metrics you will calculate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-Define your risk framework structure</a:t>
            </a:r>
            <a:endParaRPr sz="1200">
              <a:latin typeface="Courier New"/>
              <a:ea typeface="Courier New"/>
              <a:cs typeface="Courier New"/>
              <a:sym typeface="Courier New"/>
            </a:endParaRPr>
          </a:p>
        </p:txBody>
      </p:sp>
      <p:sp>
        <p:nvSpPr>
          <p:cNvPr id="65" name="Google Shape;65;p14"/>
          <p:cNvSpPr txBox="1"/>
          <p:nvPr/>
        </p:nvSpPr>
        <p:spPr>
          <a:xfrm>
            <a:off x="360000" y="3906600"/>
            <a:ext cx="4513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Pick 5 stocks:</a:t>
            </a:r>
            <a:endParaRPr b="1" sz="12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AAPL, MSFT, NVDA, JPM, SPY (market benchmark)</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Why?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Large-cap, High liquidity, Bellwether</a:t>
            </a:r>
            <a:br>
              <a:rPr lang="ru" sz="1200">
                <a:latin typeface="Courier New"/>
                <a:ea typeface="Courier New"/>
                <a:cs typeface="Courier New"/>
                <a:sym typeface="Courier New"/>
              </a:rPr>
            </a:br>
            <a:br>
              <a:rPr lang="ru" sz="1200">
                <a:latin typeface="Courier New"/>
                <a:ea typeface="Courier New"/>
                <a:cs typeface="Courier New"/>
                <a:sym typeface="Courier New"/>
              </a:rPr>
            </a:br>
            <a:r>
              <a:rPr b="1" lang="ru" sz="1200" u="sng">
                <a:latin typeface="Courier New"/>
                <a:ea typeface="Courier New"/>
                <a:cs typeface="Courier New"/>
                <a:sym typeface="Courier New"/>
              </a:rPr>
              <a:t>Next:</a:t>
            </a: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I used Python to automate the ingestion of historical stock data rather than relying on manual downloads.</a:t>
            </a:r>
            <a:endParaRPr sz="1200">
              <a:latin typeface="Courier New"/>
              <a:ea typeface="Courier New"/>
              <a:cs typeface="Courier New"/>
              <a:sym typeface="Courier New"/>
            </a:endParaRPr>
          </a:p>
        </p:txBody>
      </p:sp>
      <p:sp>
        <p:nvSpPr>
          <p:cNvPr id="66" name="Google Shape;66;p14"/>
          <p:cNvSpPr txBox="1"/>
          <p:nvPr/>
        </p:nvSpPr>
        <p:spPr>
          <a:xfrm>
            <a:off x="41629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New Notebook in Python</a:t>
            </a:r>
            <a:endParaRPr sz="1800">
              <a:solidFill>
                <a:schemeClr val="dk2"/>
              </a:solidFill>
            </a:endParaRPr>
          </a:p>
        </p:txBody>
      </p:sp>
      <p:sp>
        <p:nvSpPr>
          <p:cNvPr id="67" name="Google Shape;67;p14"/>
          <p:cNvSpPr txBox="1"/>
          <p:nvPr/>
        </p:nvSpPr>
        <p:spPr>
          <a:xfrm>
            <a:off x="70540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Pull Market Data</a:t>
            </a:r>
            <a:endParaRPr sz="1800">
              <a:solidFill>
                <a:schemeClr val="dk2"/>
              </a:solidFill>
            </a:endParaRPr>
          </a:p>
        </p:txBody>
      </p:sp>
      <p:sp>
        <p:nvSpPr>
          <p:cNvPr id="68" name="Google Shape;68;p14"/>
          <p:cNvSpPr txBox="1"/>
          <p:nvPr/>
        </p:nvSpPr>
        <p:spPr>
          <a:xfrm>
            <a:off x="5769250" y="70907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Raw Data </a:t>
            </a:r>
            <a:r>
              <a:rPr lang="ru" sz="1800">
                <a:solidFill>
                  <a:schemeClr val="dk2"/>
                </a:solidFill>
              </a:rPr>
              <a:t>Sub Folder</a:t>
            </a:r>
            <a:r>
              <a:rPr lang="ru" sz="1800">
                <a:solidFill>
                  <a:schemeClr val="dk2"/>
                </a:solidFill>
              </a:rPr>
              <a:t> created</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2" name="Shape 72"/>
        <p:cNvGrpSpPr/>
        <p:nvPr/>
      </p:nvGrpSpPr>
      <p:grpSpPr>
        <a:xfrm>
          <a:off x="0" y="0"/>
          <a:ext cx="0" cy="0"/>
          <a:chOff x="0" y="0"/>
          <a:chExt cx="0" cy="0"/>
        </a:xfrm>
      </p:grpSpPr>
      <p:pic>
        <p:nvPicPr>
          <p:cNvPr id="73" name="Google Shape;73;p15" title="Screenshot 2026-02-26 140911.png"/>
          <p:cNvPicPr preferRelativeResize="0"/>
          <p:nvPr/>
        </p:nvPicPr>
        <p:blipFill rotWithShape="1">
          <a:blip r:embed="rId3">
            <a:alphaModFix/>
          </a:blip>
          <a:srcRect b="0" l="-5666" r="28045" t="0"/>
          <a:stretch/>
        </p:blipFill>
        <p:spPr>
          <a:xfrm>
            <a:off x="360000" y="3882150"/>
            <a:ext cx="3621299" cy="3621299"/>
          </a:xfrm>
          <a:prstGeom prst="rect">
            <a:avLst/>
          </a:prstGeom>
          <a:noFill/>
          <a:ln>
            <a:noFill/>
          </a:ln>
        </p:spPr>
      </p:pic>
      <p:sp>
        <p:nvSpPr>
          <p:cNvPr id="74" name="Google Shape;74;p15"/>
          <p:cNvSpPr txBox="1"/>
          <p:nvPr/>
        </p:nvSpPr>
        <p:spPr>
          <a:xfrm>
            <a:off x="360000" y="268050"/>
            <a:ext cx="3621300" cy="24012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None/>
            </a:pPr>
            <a:r>
              <a:rPr b="1" lang="ru" sz="1200" u="sng">
                <a:latin typeface="Courier New"/>
                <a:ea typeface="Courier New"/>
                <a:cs typeface="Courier New"/>
                <a:sym typeface="Courier New"/>
              </a:rPr>
              <a:t>What I Learned Today (Transferable Skills)</a:t>
            </a:r>
            <a:endParaRPr b="1" sz="1200" u="sng">
              <a:latin typeface="Courier New"/>
              <a:ea typeface="Courier New"/>
              <a:cs typeface="Courier New"/>
              <a:sym typeface="Courier New"/>
            </a:endParaRPr>
          </a:p>
          <a:p>
            <a:pPr indent="0" lvl="0" marL="0" rtl="0" algn="r">
              <a:lnSpc>
                <a:spcPct val="100000"/>
              </a:lnSpc>
              <a:spcBef>
                <a:spcPts val="0"/>
              </a:spcBef>
              <a:spcAft>
                <a:spcPts val="0"/>
              </a:spcAft>
              <a:buNone/>
            </a:pPr>
            <a:r>
              <a:t/>
            </a:r>
            <a:endParaRPr b="1"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b="1" lang="ru" sz="1200">
                <a:latin typeface="Courier New"/>
                <a:ea typeface="Courier New"/>
                <a:cs typeface="Courier New"/>
                <a:sym typeface="Courier New"/>
              </a:rPr>
              <a:t>Project structuring</a:t>
            </a:r>
            <a:endParaRPr b="1"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b="1" lang="ru" sz="1200">
                <a:latin typeface="Courier New"/>
                <a:ea typeface="Courier New"/>
                <a:cs typeface="Courier New"/>
                <a:sym typeface="Courier New"/>
              </a:rPr>
              <a:t>Data sourcing</a:t>
            </a:r>
            <a:endParaRPr b="1"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b="1" lang="ru" sz="1200">
                <a:latin typeface="Courier New"/>
                <a:ea typeface="Courier New"/>
                <a:cs typeface="Courier New"/>
                <a:sym typeface="Courier New"/>
              </a:rPr>
              <a:t>Portfolio construction</a:t>
            </a:r>
            <a:endParaRPr b="1"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b="1" lang="ru" sz="1200">
                <a:latin typeface="Courier New"/>
                <a:ea typeface="Courier New"/>
                <a:cs typeface="Courier New"/>
                <a:sym typeface="Courier New"/>
              </a:rPr>
              <a:t>Risk framework planning</a:t>
            </a:r>
            <a:endParaRPr b="1"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b="1" lang="ru" sz="1200">
                <a:latin typeface="Courier New"/>
                <a:ea typeface="Courier New"/>
                <a:cs typeface="Courier New"/>
                <a:sym typeface="Courier New"/>
              </a:rPr>
              <a:t>Professional workflow design</a:t>
            </a:r>
            <a:endParaRPr b="1" sz="1200">
              <a:latin typeface="Courier New"/>
              <a:ea typeface="Courier New"/>
              <a:cs typeface="Courier New"/>
              <a:sym typeface="Courier New"/>
            </a:endParaRPr>
          </a:p>
        </p:txBody>
      </p:sp>
      <p:pic>
        <p:nvPicPr>
          <p:cNvPr id="75" name="Google Shape;75;p15" title="Screenshot 2026-02-26 141230.png"/>
          <p:cNvPicPr preferRelativeResize="0"/>
          <p:nvPr/>
        </p:nvPicPr>
        <p:blipFill rotWithShape="1">
          <a:blip r:embed="rId4">
            <a:alphaModFix/>
          </a:blip>
          <a:srcRect b="0" l="47564" r="0" t="0"/>
          <a:stretch/>
        </p:blipFill>
        <p:spPr>
          <a:xfrm>
            <a:off x="5993225" y="3882150"/>
            <a:ext cx="3621301" cy="3621300"/>
          </a:xfrm>
          <a:prstGeom prst="rect">
            <a:avLst/>
          </a:prstGeom>
          <a:noFill/>
          <a:ln>
            <a:noFill/>
          </a:ln>
        </p:spPr>
      </p:pic>
      <p:sp>
        <p:nvSpPr>
          <p:cNvPr id="76" name="Google Shape;76;p15"/>
          <p:cNvSpPr txBox="1"/>
          <p:nvPr/>
        </p:nvSpPr>
        <p:spPr>
          <a:xfrm>
            <a:off x="5993225" y="360000"/>
            <a:ext cx="3621300" cy="1847100"/>
          </a:xfrm>
          <a:prstGeom prst="rect">
            <a:avLst/>
          </a:prstGeom>
          <a:noFill/>
          <a:ln>
            <a:noFill/>
          </a:ln>
        </p:spPr>
        <p:txBody>
          <a:bodyPr anchorCtr="0" anchor="t" bIns="91425" lIns="91425" spcFirstLastPara="1" rIns="91425" wrap="square" tIns="91425">
            <a:spAutoFit/>
          </a:bodyPr>
          <a:lstStyle/>
          <a:p>
            <a:pPr indent="0" lvl="0" marL="457200" rtl="0" algn="r">
              <a:lnSpc>
                <a:spcPct val="100000"/>
              </a:lnSpc>
              <a:spcBef>
                <a:spcPts val="0"/>
              </a:spcBef>
              <a:spcAft>
                <a:spcPts val="0"/>
              </a:spcAft>
              <a:buNone/>
            </a:pPr>
            <a:r>
              <a:rPr b="1" lang="ru" sz="1200" u="sng">
                <a:latin typeface="Courier New"/>
                <a:ea typeface="Courier New"/>
                <a:cs typeface="Courier New"/>
                <a:sym typeface="Courier New"/>
              </a:rPr>
              <a:t>What I Just Did </a:t>
            </a:r>
            <a:endParaRPr b="1" sz="1200" u="sng">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u="sng">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Used an API-based data pull</a:t>
            </a:r>
            <a:endParaRPr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Created a structured dataset</a:t>
            </a:r>
            <a:endParaRPr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Built a reproducible pipeline</a:t>
            </a:r>
            <a:endParaRPr sz="1200">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r">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Avoided manual CSV downloads</a:t>
            </a:r>
            <a:endParaRPr sz="1200">
              <a:latin typeface="Courier New"/>
              <a:ea typeface="Courier New"/>
              <a:cs typeface="Courier New"/>
              <a:sym typeface="Courier New"/>
            </a:endParaRPr>
          </a:p>
        </p:txBody>
      </p:sp>
      <p:sp>
        <p:nvSpPr>
          <p:cNvPr id="77" name="Google Shape;77;p15"/>
          <p:cNvSpPr txBox="1"/>
          <p:nvPr/>
        </p:nvSpPr>
        <p:spPr>
          <a:xfrm>
            <a:off x="578200" y="3291150"/>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Project Folder Structure</a:t>
            </a:r>
            <a:endParaRPr sz="1800">
              <a:solidFill>
                <a:schemeClr val="dk2"/>
              </a:solidFill>
            </a:endParaRPr>
          </a:p>
        </p:txBody>
      </p:sp>
      <p:sp>
        <p:nvSpPr>
          <p:cNvPr id="78" name="Google Shape;78;p15"/>
          <p:cNvSpPr txBox="1"/>
          <p:nvPr/>
        </p:nvSpPr>
        <p:spPr>
          <a:xfrm>
            <a:off x="6358325" y="31424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PostgreSQL</a:t>
            </a:r>
            <a:r>
              <a:rPr lang="ru" sz="1800">
                <a:solidFill>
                  <a:schemeClr val="dk2"/>
                </a:solidFill>
              </a:rPr>
              <a:t> and DBeaver ready for Day 2!</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2" name="Shape 82"/>
        <p:cNvGrpSpPr/>
        <p:nvPr/>
      </p:nvGrpSpPr>
      <p:grpSpPr>
        <a:xfrm>
          <a:off x="0" y="0"/>
          <a:ext cx="0" cy="0"/>
          <a:chOff x="0" y="0"/>
          <a:chExt cx="0" cy="0"/>
        </a:xfrm>
      </p:grpSpPr>
      <p:pic>
        <p:nvPicPr>
          <p:cNvPr id="83" name="Google Shape;83;p16" title="Screenshot 2026-02-27 095844.png"/>
          <p:cNvPicPr preferRelativeResize="0"/>
          <p:nvPr/>
        </p:nvPicPr>
        <p:blipFill rotWithShape="1">
          <a:blip r:embed="rId3">
            <a:alphaModFix/>
          </a:blip>
          <a:srcRect b="0" l="17061" r="17067" t="0"/>
          <a:stretch/>
        </p:blipFill>
        <p:spPr>
          <a:xfrm>
            <a:off x="6921775" y="2089850"/>
            <a:ext cx="2943949" cy="2943949"/>
          </a:xfrm>
          <a:prstGeom prst="rect">
            <a:avLst/>
          </a:prstGeom>
          <a:noFill/>
          <a:ln>
            <a:noFill/>
          </a:ln>
        </p:spPr>
      </p:pic>
      <p:sp>
        <p:nvSpPr>
          <p:cNvPr id="84" name="Google Shape;84;p16"/>
          <p:cNvSpPr txBox="1"/>
          <p:nvPr/>
        </p:nvSpPr>
        <p:spPr>
          <a:xfrm>
            <a:off x="987150" y="270415"/>
            <a:ext cx="80697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a:latin typeface="Courier New"/>
                <a:ea typeface="Courier New"/>
                <a:cs typeface="Courier New"/>
                <a:sym typeface="Courier New"/>
              </a:rPr>
              <a:t>Step 3 - Calculate Daily Returns: “I used SQL window functions, specifically LAG, to compute daily returns by partitioning data by ticker and ordering by date.”</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LAG is an SQL function - LAG allows you to reference the previous row’s value in a time series.</a:t>
            </a:r>
            <a:endParaRPr b="1"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What is a window function? - Perform calculations across rows that are related to the current row — without collapsing the dataset.</a:t>
            </a:r>
            <a:endParaRPr b="1" sz="1200">
              <a:latin typeface="Courier New"/>
              <a:ea typeface="Courier New"/>
              <a:cs typeface="Courier New"/>
              <a:sym typeface="Courier New"/>
            </a:endParaRPr>
          </a:p>
        </p:txBody>
      </p:sp>
      <p:pic>
        <p:nvPicPr>
          <p:cNvPr id="85" name="Google Shape;85;p16" title="Screenshot 2026-02-27 092549.png"/>
          <p:cNvPicPr preferRelativeResize="0"/>
          <p:nvPr/>
        </p:nvPicPr>
        <p:blipFill rotWithShape="1">
          <a:blip r:embed="rId4">
            <a:alphaModFix/>
          </a:blip>
          <a:srcRect b="0" l="11634" r="11626" t="0"/>
          <a:stretch/>
        </p:blipFill>
        <p:spPr>
          <a:xfrm>
            <a:off x="3700425" y="4014300"/>
            <a:ext cx="2793902" cy="3286078"/>
          </a:xfrm>
          <a:prstGeom prst="rect">
            <a:avLst/>
          </a:prstGeom>
          <a:noFill/>
          <a:ln>
            <a:noFill/>
          </a:ln>
        </p:spPr>
      </p:pic>
      <p:sp>
        <p:nvSpPr>
          <p:cNvPr id="86" name="Google Shape;86;p16"/>
          <p:cNvSpPr txBox="1"/>
          <p:nvPr/>
        </p:nvSpPr>
        <p:spPr>
          <a:xfrm>
            <a:off x="277400" y="1924600"/>
            <a:ext cx="35055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200" u="sng">
                <a:latin typeface="Courier New"/>
                <a:ea typeface="Courier New"/>
                <a:cs typeface="Courier New"/>
                <a:sym typeface="Courier New"/>
              </a:rPr>
              <a:t>Day 2 Objective</a:t>
            </a:r>
            <a:endParaRPr b="1" sz="2200" u="sng">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-Create a database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-Import price data into SQL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-Build a structured price table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-Calculate daily returns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-Prepare dataset for volatility modeling</a:t>
            </a:r>
            <a:endParaRPr sz="1200">
              <a:latin typeface="Courier New"/>
              <a:ea typeface="Courier New"/>
              <a:cs typeface="Courier New"/>
              <a:sym typeface="Courier New"/>
            </a:endParaRPr>
          </a:p>
        </p:txBody>
      </p:sp>
      <p:sp>
        <p:nvSpPr>
          <p:cNvPr id="87" name="Google Shape;87;p16"/>
          <p:cNvSpPr txBox="1"/>
          <p:nvPr/>
        </p:nvSpPr>
        <p:spPr>
          <a:xfrm>
            <a:off x="3782900" y="33470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Price Data Imported</a:t>
            </a:r>
            <a:endParaRPr sz="1800">
              <a:solidFill>
                <a:schemeClr val="dk2"/>
              </a:solidFill>
            </a:endParaRPr>
          </a:p>
        </p:txBody>
      </p:sp>
      <p:sp>
        <p:nvSpPr>
          <p:cNvPr id="88" name="Google Shape;88;p16"/>
          <p:cNvSpPr txBox="1"/>
          <p:nvPr/>
        </p:nvSpPr>
        <p:spPr>
          <a:xfrm>
            <a:off x="6921775" y="53757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Calculate Daily returns with LAG window function</a:t>
            </a:r>
            <a:endParaRPr sz="1800">
              <a:solidFill>
                <a:schemeClr val="dk2"/>
              </a:solidFill>
            </a:endParaRPr>
          </a:p>
        </p:txBody>
      </p:sp>
      <p:sp>
        <p:nvSpPr>
          <p:cNvPr id="89" name="Google Shape;89;p16"/>
          <p:cNvSpPr txBox="1"/>
          <p:nvPr/>
        </p:nvSpPr>
        <p:spPr>
          <a:xfrm>
            <a:off x="163175" y="5651976"/>
            <a:ext cx="3109800" cy="1477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u="sng">
                <a:latin typeface="Courier New"/>
                <a:ea typeface="Courier New"/>
                <a:cs typeface="Courier New"/>
                <a:sym typeface="Courier New"/>
              </a:rPr>
              <a:t>Transferable</a:t>
            </a:r>
            <a:r>
              <a:rPr b="1" lang="ru" sz="1200" u="sng">
                <a:latin typeface="Courier New"/>
                <a:ea typeface="Courier New"/>
                <a:cs typeface="Courier New"/>
                <a:sym typeface="Courier New"/>
              </a:rPr>
              <a:t> Skill:</a:t>
            </a:r>
            <a:r>
              <a:rPr b="1" lang="ru"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I calculated rolling 30-day volatility using SQL window functions and standard deviation to measure short-term risk exposure.</a:t>
            </a:r>
            <a:endParaRPr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3" name="Shape 93"/>
        <p:cNvGrpSpPr/>
        <p:nvPr/>
      </p:nvGrpSpPr>
      <p:grpSpPr>
        <a:xfrm>
          <a:off x="0" y="0"/>
          <a:ext cx="0" cy="0"/>
          <a:chOff x="0" y="0"/>
          <a:chExt cx="0" cy="0"/>
        </a:xfrm>
      </p:grpSpPr>
      <p:pic>
        <p:nvPicPr>
          <p:cNvPr id="94" name="Google Shape;94;p17" title="Screenshot 2026-02-27 102103.png"/>
          <p:cNvPicPr preferRelativeResize="0"/>
          <p:nvPr/>
        </p:nvPicPr>
        <p:blipFill rotWithShape="1">
          <a:blip r:embed="rId3">
            <a:alphaModFix/>
          </a:blip>
          <a:srcRect b="12631" l="0" r="0" t="12631"/>
          <a:stretch/>
        </p:blipFill>
        <p:spPr>
          <a:xfrm>
            <a:off x="360000" y="1338100"/>
            <a:ext cx="6285501" cy="6285501"/>
          </a:xfrm>
          <a:prstGeom prst="rect">
            <a:avLst/>
          </a:prstGeom>
          <a:noFill/>
          <a:ln>
            <a:noFill/>
          </a:ln>
        </p:spPr>
      </p:pic>
      <p:sp>
        <p:nvSpPr>
          <p:cNvPr id="95" name="Google Shape;95;p17"/>
          <p:cNvSpPr txBox="1"/>
          <p:nvPr/>
        </p:nvSpPr>
        <p:spPr>
          <a:xfrm>
            <a:off x="6872225" y="677325"/>
            <a:ext cx="2957100" cy="11082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None/>
            </a:pPr>
            <a:r>
              <a:rPr b="1" lang="ru" sz="1200">
                <a:latin typeface="Courier New"/>
                <a:ea typeface="Courier New"/>
                <a:cs typeface="Courier New"/>
                <a:sym typeface="Courier New"/>
              </a:rPr>
              <a:t>“I created a portfolio return series in SQL by joining a weights table to daily returns and calculating weighted daily performance.”</a:t>
            </a:r>
            <a:endParaRPr sz="1200">
              <a:latin typeface="Courier New"/>
              <a:ea typeface="Courier New"/>
              <a:cs typeface="Courier New"/>
              <a:sym typeface="Courier New"/>
            </a:endParaRPr>
          </a:p>
        </p:txBody>
      </p:sp>
      <p:sp>
        <p:nvSpPr>
          <p:cNvPr id="96" name="Google Shape;96;p17"/>
          <p:cNvSpPr txBox="1"/>
          <p:nvPr/>
        </p:nvSpPr>
        <p:spPr>
          <a:xfrm>
            <a:off x="987150" y="270415"/>
            <a:ext cx="8069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2100">
                <a:latin typeface="Courier New"/>
                <a:ea typeface="Courier New"/>
                <a:cs typeface="Courier New"/>
                <a:sym typeface="Courier New"/>
              </a:rPr>
              <a:t>What I did (End of Day 2)</a:t>
            </a:r>
            <a:endParaRPr b="1" sz="2100">
              <a:latin typeface="Courier New"/>
              <a:ea typeface="Courier New"/>
              <a:cs typeface="Courier New"/>
              <a:sym typeface="Courier New"/>
            </a:endParaRPr>
          </a:p>
        </p:txBody>
      </p:sp>
      <p:sp>
        <p:nvSpPr>
          <p:cNvPr id="97" name="Google Shape;97;p17"/>
          <p:cNvSpPr txBox="1"/>
          <p:nvPr/>
        </p:nvSpPr>
        <p:spPr>
          <a:xfrm>
            <a:off x="6872225" y="1874700"/>
            <a:ext cx="2957100" cy="55719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None/>
            </a:pPr>
            <a:r>
              <a:rPr b="1" lang="ru" u="sng">
                <a:latin typeface="Courier New"/>
                <a:ea typeface="Courier New"/>
                <a:cs typeface="Courier New"/>
                <a:sym typeface="Courier New"/>
              </a:rPr>
              <a:t>Skills Shown</a:t>
            </a:r>
            <a:r>
              <a:rPr lang="ru" u="sng">
                <a:latin typeface="Courier New"/>
                <a:ea typeface="Courier New"/>
                <a:cs typeface="Courier New"/>
                <a:sym typeface="Courier New"/>
              </a:rPr>
              <a:t>:</a:t>
            </a: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1. SQL Window Functions</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2. Time-Series Financial Analysis</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3. Portfolio Modeling</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4. Risk Measurement &amp; Volatility Analysis</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5. Relational Database Structuring</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6. Data Pipeline Development</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7. Quantitative Problem Solving</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0" rtl="0" algn="r">
              <a:lnSpc>
                <a:spcPct val="100000"/>
              </a:lnSpc>
              <a:spcBef>
                <a:spcPts val="0"/>
              </a:spcBef>
              <a:spcAft>
                <a:spcPts val="0"/>
              </a:spcAft>
              <a:buNone/>
            </a:pPr>
            <a:r>
              <a:rPr lang="ru" sz="1200">
                <a:latin typeface="Courier New"/>
                <a:ea typeface="Courier New"/>
                <a:cs typeface="Courier New"/>
                <a:sym typeface="Courier New"/>
              </a:rPr>
              <a:t>*Applied mathematical return formulas and statistical measures to real market data.</a:t>
            </a:r>
            <a:endParaRPr sz="120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1" name="Shape 101"/>
        <p:cNvGrpSpPr/>
        <p:nvPr/>
      </p:nvGrpSpPr>
      <p:grpSpPr>
        <a:xfrm>
          <a:off x="0" y="0"/>
          <a:ext cx="0" cy="0"/>
          <a:chOff x="0" y="0"/>
          <a:chExt cx="0" cy="0"/>
        </a:xfrm>
      </p:grpSpPr>
      <p:pic>
        <p:nvPicPr>
          <p:cNvPr id="102" name="Google Shape;102;p18" title="Screenshot 2026-02-27 122426.png"/>
          <p:cNvPicPr preferRelativeResize="0"/>
          <p:nvPr/>
        </p:nvPicPr>
        <p:blipFill rotWithShape="1">
          <a:blip r:embed="rId3">
            <a:alphaModFix/>
          </a:blip>
          <a:srcRect b="48020" l="0" r="0" t="0"/>
          <a:stretch/>
        </p:blipFill>
        <p:spPr>
          <a:xfrm>
            <a:off x="7155861" y="1932725"/>
            <a:ext cx="2683439" cy="2154900"/>
          </a:xfrm>
          <a:prstGeom prst="rect">
            <a:avLst/>
          </a:prstGeom>
          <a:noFill/>
          <a:ln>
            <a:noFill/>
          </a:ln>
        </p:spPr>
      </p:pic>
      <p:sp>
        <p:nvSpPr>
          <p:cNvPr id="103" name="Google Shape;103;p18"/>
          <p:cNvSpPr txBox="1"/>
          <p:nvPr/>
        </p:nvSpPr>
        <p:spPr>
          <a:xfrm>
            <a:off x="987150" y="270415"/>
            <a:ext cx="80697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a:latin typeface="Courier New"/>
                <a:ea typeface="Courier New"/>
                <a:cs typeface="Courier New"/>
                <a:sym typeface="Courier New"/>
              </a:rPr>
              <a:t>Checklist: Prepare model inputs to support Day 4 Monte Carlo VaR/CVaR simulation</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What I am doing: Built an Excel-based risk framework using SQL-derived daily returns to calculate annualized return (37%), volatility (27%), Sharpe ratio (1.3), and parametric VaR to evaluate portfolio risk-adjusted performance</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I</a:t>
            </a:r>
            <a:r>
              <a:rPr b="1" lang="ru" sz="1200">
                <a:latin typeface="Courier New"/>
                <a:ea typeface="Courier New"/>
                <a:cs typeface="Courier New"/>
                <a:sym typeface="Courier New"/>
              </a:rPr>
              <a:t> built a scenario switch that instantly re-forecasts risk/return metrics from a single control.</a:t>
            </a:r>
            <a:endParaRPr b="1" sz="1200">
              <a:latin typeface="Courier New"/>
              <a:ea typeface="Courier New"/>
              <a:cs typeface="Courier New"/>
              <a:sym typeface="Courier New"/>
            </a:endParaRPr>
          </a:p>
        </p:txBody>
      </p:sp>
      <p:pic>
        <p:nvPicPr>
          <p:cNvPr id="104" name="Google Shape;104;p18" title="Screenshot 2026-02-27 115816.png"/>
          <p:cNvPicPr preferRelativeResize="0"/>
          <p:nvPr/>
        </p:nvPicPr>
        <p:blipFill rotWithShape="1">
          <a:blip r:embed="rId4">
            <a:alphaModFix/>
          </a:blip>
          <a:srcRect b="0" l="12064" r="12064" t="0"/>
          <a:stretch/>
        </p:blipFill>
        <p:spPr>
          <a:xfrm>
            <a:off x="3831500" y="4014300"/>
            <a:ext cx="2793901" cy="3286078"/>
          </a:xfrm>
          <a:prstGeom prst="rect">
            <a:avLst/>
          </a:prstGeom>
          <a:noFill/>
          <a:ln>
            <a:noFill/>
          </a:ln>
        </p:spPr>
      </p:pic>
      <p:sp>
        <p:nvSpPr>
          <p:cNvPr id="105" name="Google Shape;105;p18"/>
          <p:cNvSpPr txBox="1"/>
          <p:nvPr/>
        </p:nvSpPr>
        <p:spPr>
          <a:xfrm>
            <a:off x="277400" y="1924600"/>
            <a:ext cx="3505500" cy="403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200" u="sng">
                <a:latin typeface="Courier New"/>
                <a:ea typeface="Courier New"/>
                <a:cs typeface="Courier New"/>
                <a:sym typeface="Courier New"/>
              </a:rPr>
              <a:t>Day 3 Objective</a:t>
            </a:r>
            <a:endParaRPr b="1" sz="2600" u="sng">
              <a:latin typeface="Courier New"/>
              <a:ea typeface="Courier New"/>
              <a:cs typeface="Courier New"/>
              <a:sym typeface="Courier New"/>
            </a:endParaRPr>
          </a:p>
          <a:p>
            <a:pPr indent="0" lvl="0" marL="0" rtl="0" algn="l">
              <a:spcBef>
                <a:spcPts val="0"/>
              </a:spcBef>
              <a:spcAft>
                <a:spcPts val="0"/>
              </a:spcAft>
              <a:buNone/>
            </a:pPr>
            <a:r>
              <a:rPr b="1" lang="ru">
                <a:latin typeface="Courier New"/>
                <a:ea typeface="Courier New"/>
                <a:cs typeface="Courier New"/>
                <a:sym typeface="Courier New"/>
              </a:rPr>
              <a:t>By the end of today I will:</a:t>
            </a:r>
            <a:endParaRPr b="1">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-Build a structured Excel risk framework</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-Calculate annualized return and volatility</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-Compute Sharpe Ratio and Parametric VaR (95%)</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-Implement Base / Bull / Bear scenario modeling</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-Create a 2-way sensitivity table</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-Build a clean executive risk summary sectio</a:t>
            </a:r>
            <a:r>
              <a:rPr lang="ru" sz="1000">
                <a:latin typeface="Courier New"/>
                <a:ea typeface="Courier New"/>
                <a:cs typeface="Courier New"/>
                <a:sym typeface="Courier New"/>
              </a:rPr>
              <a:t>n</a:t>
            </a:r>
            <a:endParaRPr sz="1000">
              <a:latin typeface="Courier New"/>
              <a:ea typeface="Courier New"/>
              <a:cs typeface="Courier New"/>
              <a:sym typeface="Courier New"/>
            </a:endParaRPr>
          </a:p>
        </p:txBody>
      </p:sp>
      <p:sp>
        <p:nvSpPr>
          <p:cNvPr id="106" name="Google Shape;106;p18"/>
          <p:cNvSpPr txBox="1"/>
          <p:nvPr/>
        </p:nvSpPr>
        <p:spPr>
          <a:xfrm>
            <a:off x="3906788" y="33470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Created Dropdown Menu</a:t>
            </a:r>
            <a:endParaRPr sz="1800">
              <a:solidFill>
                <a:schemeClr val="dk2"/>
              </a:solidFill>
            </a:endParaRPr>
          </a:p>
        </p:txBody>
      </p:sp>
      <p:sp>
        <p:nvSpPr>
          <p:cNvPr id="107" name="Google Shape;107;p18"/>
          <p:cNvSpPr txBox="1"/>
          <p:nvPr/>
        </p:nvSpPr>
        <p:spPr>
          <a:xfrm>
            <a:off x="7052025" y="40955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Portfolio Data Imported</a:t>
            </a:r>
            <a:endParaRPr sz="1800">
              <a:solidFill>
                <a:schemeClr val="dk2"/>
              </a:solidFill>
            </a:endParaRPr>
          </a:p>
        </p:txBody>
      </p:sp>
      <p:sp>
        <p:nvSpPr>
          <p:cNvPr id="108" name="Google Shape;108;p18"/>
          <p:cNvSpPr txBox="1"/>
          <p:nvPr/>
        </p:nvSpPr>
        <p:spPr>
          <a:xfrm>
            <a:off x="277400" y="6114526"/>
            <a:ext cx="3109800" cy="215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u="sng">
                <a:latin typeface="Courier New"/>
                <a:ea typeface="Courier New"/>
                <a:cs typeface="Courier New"/>
                <a:sym typeface="Courier New"/>
              </a:rPr>
              <a:t>Real Financial Modeling</a:t>
            </a:r>
            <a:r>
              <a:rPr b="1" lang="ru" sz="1200" u="sng">
                <a:latin typeface="Courier New"/>
                <a:ea typeface="Courier New"/>
                <a:cs typeface="Courier New"/>
                <a:sym typeface="Courier New"/>
              </a:rPr>
              <a:t>:</a:t>
            </a:r>
            <a:r>
              <a:rPr b="1" lang="ru" sz="1200">
                <a:latin typeface="Courier New"/>
                <a:ea typeface="Courier New"/>
                <a:cs typeface="Courier New"/>
                <a:sym typeface="Courier New"/>
              </a:rPr>
              <a:t> </a:t>
            </a:r>
            <a:endParaRPr sz="1200">
              <a:latin typeface="Courier New"/>
              <a:ea typeface="Courier New"/>
              <a:cs typeface="Courier New"/>
              <a:sym typeface="Courier New"/>
            </a:endParaRPr>
          </a:p>
          <a:p>
            <a:pPr indent="-298450" lvl="0" marL="457200" rtl="0" algn="l">
              <a:lnSpc>
                <a:spcPct val="150000"/>
              </a:lnSpc>
              <a:spcBef>
                <a:spcPts val="1200"/>
              </a:spcBef>
              <a:spcAft>
                <a:spcPts val="0"/>
              </a:spcAft>
              <a:buClr>
                <a:schemeClr val="dk1"/>
              </a:buClr>
              <a:buSzPts val="1100"/>
              <a:buChar char="●"/>
            </a:pPr>
            <a:r>
              <a:rPr lang="ru" sz="1200">
                <a:latin typeface="Courier New"/>
                <a:ea typeface="Courier New"/>
                <a:cs typeface="Courier New"/>
                <a:sym typeface="Courier New"/>
              </a:rPr>
              <a:t>Mean daily return</a:t>
            </a:r>
            <a:endParaRPr sz="1200">
              <a:latin typeface="Courier New"/>
              <a:ea typeface="Courier New"/>
              <a:cs typeface="Courier New"/>
              <a:sym typeface="Courier New"/>
            </a:endParaRPr>
          </a:p>
          <a:p>
            <a:pPr indent="-298450" lvl="0" marL="457200" rtl="0" algn="l">
              <a:lnSpc>
                <a:spcPct val="150000"/>
              </a:lnSpc>
              <a:spcBef>
                <a:spcPts val="0"/>
              </a:spcBef>
              <a:spcAft>
                <a:spcPts val="0"/>
              </a:spcAft>
              <a:buClr>
                <a:schemeClr val="dk1"/>
              </a:buClr>
              <a:buSzPts val="1100"/>
              <a:buChar char="●"/>
            </a:pPr>
            <a:r>
              <a:rPr lang="ru" sz="1200">
                <a:latin typeface="Courier New"/>
                <a:ea typeface="Courier New"/>
                <a:cs typeface="Courier New"/>
                <a:sym typeface="Courier New"/>
              </a:rPr>
              <a:t>Daily volatility</a:t>
            </a:r>
            <a:endParaRPr sz="1200">
              <a:latin typeface="Courier New"/>
              <a:ea typeface="Courier New"/>
              <a:cs typeface="Courier New"/>
              <a:sym typeface="Courier New"/>
            </a:endParaRPr>
          </a:p>
          <a:p>
            <a:pPr indent="-298450" lvl="0" marL="457200" rtl="0" algn="l">
              <a:lnSpc>
                <a:spcPct val="150000"/>
              </a:lnSpc>
              <a:spcBef>
                <a:spcPts val="0"/>
              </a:spcBef>
              <a:spcAft>
                <a:spcPts val="0"/>
              </a:spcAft>
              <a:buClr>
                <a:schemeClr val="dk1"/>
              </a:buClr>
              <a:buSzPts val="1100"/>
              <a:buChar char="●"/>
            </a:pPr>
            <a:r>
              <a:rPr lang="ru" sz="1200">
                <a:latin typeface="Courier New"/>
                <a:ea typeface="Courier New"/>
                <a:cs typeface="Courier New"/>
                <a:sym typeface="Courier New"/>
              </a:rPr>
              <a:t>Annualized return</a:t>
            </a:r>
            <a:endParaRPr sz="1200">
              <a:latin typeface="Courier New"/>
              <a:ea typeface="Courier New"/>
              <a:cs typeface="Courier New"/>
              <a:sym typeface="Courier New"/>
            </a:endParaRPr>
          </a:p>
          <a:p>
            <a:pPr indent="-298450" lvl="0" marL="457200" rtl="0" algn="l">
              <a:lnSpc>
                <a:spcPct val="150000"/>
              </a:lnSpc>
              <a:spcBef>
                <a:spcPts val="0"/>
              </a:spcBef>
              <a:spcAft>
                <a:spcPts val="0"/>
              </a:spcAft>
              <a:buClr>
                <a:schemeClr val="dk1"/>
              </a:buClr>
              <a:buSzPts val="1100"/>
              <a:buChar char="●"/>
            </a:pPr>
            <a:r>
              <a:rPr lang="ru" sz="1200">
                <a:latin typeface="Courier New"/>
                <a:ea typeface="Courier New"/>
                <a:cs typeface="Courier New"/>
                <a:sym typeface="Courier New"/>
              </a:rPr>
              <a:t>Annualized volatility</a:t>
            </a:r>
            <a:endParaRPr sz="1200">
              <a:latin typeface="Courier New"/>
              <a:ea typeface="Courier New"/>
              <a:cs typeface="Courier New"/>
              <a:sym typeface="Courier New"/>
            </a:endParaRPr>
          </a:p>
          <a:p>
            <a:pPr indent="0" lvl="0" marL="0" rtl="0" algn="ctr">
              <a:spcBef>
                <a:spcPts val="120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p:txBody>
      </p:sp>
      <p:pic>
        <p:nvPicPr>
          <p:cNvPr id="109" name="Google Shape;109;p18" title="Screenshot 2026-02-27 124433.png"/>
          <p:cNvPicPr preferRelativeResize="0"/>
          <p:nvPr/>
        </p:nvPicPr>
        <p:blipFill rotWithShape="1">
          <a:blip r:embed="rId5">
            <a:alphaModFix/>
          </a:blip>
          <a:srcRect b="3570" l="58762" r="1112" t="-3570"/>
          <a:stretch/>
        </p:blipFill>
        <p:spPr>
          <a:xfrm>
            <a:off x="6921775" y="5368925"/>
            <a:ext cx="2943950" cy="2311749"/>
          </a:xfrm>
          <a:prstGeom prst="rect">
            <a:avLst/>
          </a:prstGeom>
          <a:noFill/>
          <a:ln>
            <a:noFill/>
          </a:ln>
        </p:spPr>
      </p:pic>
      <p:sp>
        <p:nvSpPr>
          <p:cNvPr id="110" name="Google Shape;110;p18"/>
          <p:cNvSpPr txBox="1"/>
          <p:nvPr/>
        </p:nvSpPr>
        <p:spPr>
          <a:xfrm>
            <a:off x="6948200" y="4751288"/>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Risk Framework</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4" name="Shape 114"/>
        <p:cNvGrpSpPr/>
        <p:nvPr/>
      </p:nvGrpSpPr>
      <p:grpSpPr>
        <a:xfrm>
          <a:off x="0" y="0"/>
          <a:ext cx="0" cy="0"/>
          <a:chOff x="0" y="0"/>
          <a:chExt cx="0" cy="0"/>
        </a:xfrm>
      </p:grpSpPr>
      <p:pic>
        <p:nvPicPr>
          <p:cNvPr id="115" name="Google Shape;115;p19" title="Screenshot 2026-03-02 161832.png"/>
          <p:cNvPicPr preferRelativeResize="0"/>
          <p:nvPr/>
        </p:nvPicPr>
        <p:blipFill rotWithShape="1">
          <a:blip r:embed="rId3">
            <a:alphaModFix/>
          </a:blip>
          <a:srcRect b="0" l="110" r="120" t="0"/>
          <a:stretch/>
        </p:blipFill>
        <p:spPr>
          <a:xfrm>
            <a:off x="2886325" y="360000"/>
            <a:ext cx="3223398" cy="3223398"/>
          </a:xfrm>
          <a:prstGeom prst="rect">
            <a:avLst/>
          </a:prstGeom>
          <a:noFill/>
          <a:ln>
            <a:noFill/>
          </a:ln>
        </p:spPr>
      </p:pic>
      <p:pic>
        <p:nvPicPr>
          <p:cNvPr id="116" name="Google Shape;116;p19" title="Screenshot 2026-03-02 161857.png"/>
          <p:cNvPicPr preferRelativeResize="0"/>
          <p:nvPr/>
        </p:nvPicPr>
        <p:blipFill rotWithShape="1">
          <a:blip r:embed="rId4">
            <a:alphaModFix/>
          </a:blip>
          <a:srcRect b="554" l="0" r="0" t="544"/>
          <a:stretch/>
        </p:blipFill>
        <p:spPr>
          <a:xfrm>
            <a:off x="6460591" y="360000"/>
            <a:ext cx="3223398" cy="3223398"/>
          </a:xfrm>
          <a:prstGeom prst="rect">
            <a:avLst/>
          </a:prstGeom>
          <a:noFill/>
          <a:ln>
            <a:noFill/>
          </a:ln>
        </p:spPr>
      </p:pic>
      <p:pic>
        <p:nvPicPr>
          <p:cNvPr id="117" name="Google Shape;117;p19"/>
          <p:cNvPicPr preferRelativeResize="0"/>
          <p:nvPr/>
        </p:nvPicPr>
        <p:blipFill>
          <a:blip r:embed="rId5">
            <a:alphaModFix/>
          </a:blip>
          <a:stretch>
            <a:fillRect/>
          </a:stretch>
        </p:blipFill>
        <p:spPr>
          <a:xfrm>
            <a:off x="4363825" y="3870075"/>
            <a:ext cx="5320177" cy="3545925"/>
          </a:xfrm>
          <a:prstGeom prst="rect">
            <a:avLst/>
          </a:prstGeom>
          <a:noFill/>
          <a:ln>
            <a:noFill/>
          </a:ln>
        </p:spPr>
      </p:pic>
      <p:sp>
        <p:nvSpPr>
          <p:cNvPr id="118" name="Google Shape;118;p19"/>
          <p:cNvSpPr txBox="1"/>
          <p:nvPr/>
        </p:nvSpPr>
        <p:spPr>
          <a:xfrm>
            <a:off x="360000" y="360000"/>
            <a:ext cx="20850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What I learned:</a:t>
            </a:r>
            <a:endParaRPr b="1" sz="15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 produced dashboard-ready risk KPI and time-series outputs from Python that can plug directly into Power BI.</a:t>
            </a:r>
            <a:endParaRPr sz="1200">
              <a:latin typeface="Courier New"/>
              <a:ea typeface="Courier New"/>
              <a:cs typeface="Courier New"/>
              <a:sym typeface="Courier New"/>
            </a:endParaRPr>
          </a:p>
        </p:txBody>
      </p:sp>
      <p:sp>
        <p:nvSpPr>
          <p:cNvPr id="119" name="Google Shape;119;p19"/>
          <p:cNvSpPr txBox="1"/>
          <p:nvPr/>
        </p:nvSpPr>
        <p:spPr>
          <a:xfrm>
            <a:off x="360000" y="3906600"/>
            <a:ext cx="3223500" cy="355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Game Plan:</a:t>
            </a:r>
            <a:endParaRPr b="1" sz="15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Export portfolio daily returns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Load into Python (pandas)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Compute:</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Mean, Vol, Sharpe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Build:</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2-way sensitivity matrix</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Monte Carlo distribution</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Export:</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Heatmap image, VaR results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Embed image back into Power BI</a:t>
            </a:r>
            <a:endParaRPr sz="12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3" name="Shape 123"/>
        <p:cNvGrpSpPr/>
        <p:nvPr/>
      </p:nvGrpSpPr>
      <p:grpSpPr>
        <a:xfrm>
          <a:off x="0" y="0"/>
          <a:ext cx="0" cy="0"/>
          <a:chOff x="0" y="0"/>
          <a:chExt cx="0" cy="0"/>
        </a:xfrm>
      </p:grpSpPr>
      <p:sp>
        <p:nvSpPr>
          <p:cNvPr id="124" name="Google Shape;124;p20"/>
          <p:cNvSpPr txBox="1"/>
          <p:nvPr/>
        </p:nvSpPr>
        <p:spPr>
          <a:xfrm>
            <a:off x="987150" y="270415"/>
            <a:ext cx="8069700" cy="283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600" u="sng">
                <a:latin typeface="Courier New"/>
                <a:ea typeface="Courier New"/>
                <a:cs typeface="Courier New"/>
                <a:sym typeface="Courier New"/>
              </a:rPr>
              <a:t>Day 4 Monte Carlo VaR/CVaR simulation</a:t>
            </a:r>
            <a:endParaRPr b="1" sz="1600" u="sng">
              <a:latin typeface="Courier New"/>
              <a:ea typeface="Courier New"/>
              <a:cs typeface="Courier New"/>
              <a:sym typeface="Courier New"/>
            </a:endParaRPr>
          </a:p>
          <a:p>
            <a:pPr indent="0" lvl="0" marL="0" rtl="0" algn="ctr">
              <a:spcBef>
                <a:spcPts val="0"/>
              </a:spcBef>
              <a:spcAft>
                <a:spcPts val="0"/>
              </a:spcAft>
              <a:buNone/>
            </a:pPr>
            <a:br>
              <a:rPr b="1" lang="ru" sz="1200">
                <a:latin typeface="Courier New"/>
                <a:ea typeface="Courier New"/>
                <a:cs typeface="Courier New"/>
                <a:sym typeface="Courier New"/>
              </a:rPr>
            </a:br>
            <a:r>
              <a:rPr lang="ru" sz="1200">
                <a:latin typeface="Courier New"/>
                <a:ea typeface="Courier New"/>
                <a:cs typeface="Courier New"/>
                <a:sym typeface="Courier New"/>
              </a:rPr>
              <a:t>I built a full annualized risk framework, then extended it using Monte Carlo simulation to model 1-year probabilistic tail risk and compare parametric vs simulated VaR.</a:t>
            </a:r>
            <a:endParaRPr sz="1200">
              <a:latin typeface="Courier New"/>
              <a:ea typeface="Courier New"/>
              <a:cs typeface="Courier New"/>
              <a:sym typeface="Courier New"/>
            </a:endParaRPr>
          </a:p>
          <a:p>
            <a:pPr indent="0" lvl="0" marL="0" rtl="0" algn="ctr">
              <a:spcBef>
                <a:spcPts val="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rPr b="1" lang="ru" sz="1200" u="sng">
                <a:latin typeface="Courier New"/>
                <a:ea typeface="Courier New"/>
                <a:cs typeface="Courier New"/>
                <a:sym typeface="Courier New"/>
              </a:rPr>
              <a:t>I compute:</a:t>
            </a:r>
            <a:endParaRPr b="1" sz="1200" u="sng">
              <a:latin typeface="Courier New"/>
              <a:ea typeface="Courier New"/>
              <a:cs typeface="Courier New"/>
              <a:sym typeface="Courier New"/>
            </a:endParaRPr>
          </a:p>
          <a:p>
            <a:pPr indent="0" lvl="0" marL="0" rtl="0" algn="ctr">
              <a:spcBef>
                <a:spcPts val="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VaR 95%</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VaR 99%</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CVaR 95% (Expected Shortfall)</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CVaR 99%</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p:txBody>
      </p:sp>
      <p:pic>
        <p:nvPicPr>
          <p:cNvPr id="125" name="Google Shape;125;p20" title="Screenshot 2026-03-02 164846.png"/>
          <p:cNvPicPr preferRelativeResize="0"/>
          <p:nvPr/>
        </p:nvPicPr>
        <p:blipFill rotWithShape="1">
          <a:blip r:embed="rId3">
            <a:alphaModFix/>
          </a:blip>
          <a:srcRect b="0" l="13166" r="13158" t="0"/>
          <a:stretch/>
        </p:blipFill>
        <p:spPr>
          <a:xfrm>
            <a:off x="3831500" y="4014300"/>
            <a:ext cx="2793902" cy="3286078"/>
          </a:xfrm>
          <a:prstGeom prst="rect">
            <a:avLst/>
          </a:prstGeom>
          <a:noFill/>
          <a:ln>
            <a:noFill/>
          </a:ln>
        </p:spPr>
      </p:pic>
      <p:sp>
        <p:nvSpPr>
          <p:cNvPr id="126" name="Google Shape;126;p20"/>
          <p:cNvSpPr txBox="1"/>
          <p:nvPr/>
        </p:nvSpPr>
        <p:spPr>
          <a:xfrm>
            <a:off x="277400" y="1924600"/>
            <a:ext cx="3505500" cy="477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200" u="sng">
                <a:latin typeface="Courier New"/>
                <a:ea typeface="Courier New"/>
                <a:cs typeface="Courier New"/>
                <a:sym typeface="Courier New"/>
              </a:rPr>
              <a:t>Day 4 Objective</a:t>
            </a:r>
            <a:endParaRPr b="1" sz="2600" u="sng">
              <a:latin typeface="Courier New"/>
              <a:ea typeface="Courier New"/>
              <a:cs typeface="Courier New"/>
              <a:sym typeface="Courier New"/>
            </a:endParaRPr>
          </a:p>
          <a:p>
            <a:pPr indent="0" lvl="0" marL="0" rtl="0" algn="l">
              <a:spcBef>
                <a:spcPts val="0"/>
              </a:spcBef>
              <a:spcAft>
                <a:spcPts val="0"/>
              </a:spcAft>
              <a:buNone/>
            </a:pPr>
            <a:r>
              <a:rPr b="1" lang="ru">
                <a:latin typeface="Courier New"/>
                <a:ea typeface="Courier New"/>
                <a:cs typeface="Courier New"/>
                <a:sym typeface="Courier New"/>
              </a:rPr>
              <a:t>By the end of today I will:</a:t>
            </a:r>
            <a:endParaRPr b="1">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-Implement a Monte Carlo simulation engine in Python</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-Generate simulated return paths using portfolio mean and volatility</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-Compute Value at Risk (95% and 99%) from the simulated distribution</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-Compute Conditional VaR (Expected Shortfall)</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-Compare Parametric VaR vs Monte Carlo VaR</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-Visualize the full return distribution and downside tail risk</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-Export simulation outputs for Power BI dashboard integration</a:t>
            </a:r>
            <a:endParaRPr sz="1200">
              <a:latin typeface="Courier New"/>
              <a:ea typeface="Courier New"/>
              <a:cs typeface="Courier New"/>
              <a:sym typeface="Courier New"/>
            </a:endParaRPr>
          </a:p>
        </p:txBody>
      </p:sp>
      <p:sp>
        <p:nvSpPr>
          <p:cNvPr id="127" name="Google Shape;127;p20"/>
          <p:cNvSpPr txBox="1"/>
          <p:nvPr/>
        </p:nvSpPr>
        <p:spPr>
          <a:xfrm>
            <a:off x="3906788" y="33470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Histogram in Python</a:t>
            </a:r>
            <a:endParaRPr sz="1800">
              <a:solidFill>
                <a:schemeClr val="dk2"/>
              </a:solidFill>
            </a:endParaRPr>
          </a:p>
        </p:txBody>
      </p:sp>
      <p:pic>
        <p:nvPicPr>
          <p:cNvPr id="128" name="Google Shape;128;p20" title="Screenshot 2026-03-02 165349.png"/>
          <p:cNvPicPr preferRelativeResize="0"/>
          <p:nvPr/>
        </p:nvPicPr>
        <p:blipFill rotWithShape="1">
          <a:blip r:embed="rId4">
            <a:alphaModFix/>
          </a:blip>
          <a:srcRect b="0" l="1932" r="1942" t="0"/>
          <a:stretch/>
        </p:blipFill>
        <p:spPr>
          <a:xfrm>
            <a:off x="6921775" y="5368925"/>
            <a:ext cx="2943950" cy="2311749"/>
          </a:xfrm>
          <a:prstGeom prst="rect">
            <a:avLst/>
          </a:prstGeom>
          <a:noFill/>
          <a:ln>
            <a:noFill/>
          </a:ln>
        </p:spPr>
      </p:pic>
      <p:sp>
        <p:nvSpPr>
          <p:cNvPr id="129" name="Google Shape;129;p20"/>
          <p:cNvSpPr txBox="1"/>
          <p:nvPr/>
        </p:nvSpPr>
        <p:spPr>
          <a:xfrm>
            <a:off x="6838850" y="2595824"/>
            <a:ext cx="3109800" cy="221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u="sng">
                <a:latin typeface="Courier New"/>
                <a:ea typeface="Courier New"/>
                <a:cs typeface="Courier New"/>
                <a:sym typeface="Courier New"/>
              </a:rPr>
              <a:t>Reality Check</a:t>
            </a:r>
            <a:r>
              <a:rPr b="1" lang="ru" sz="1200" u="sng">
                <a:latin typeface="Courier New"/>
                <a:ea typeface="Courier New"/>
                <a:cs typeface="Courier New"/>
                <a:sym typeface="Courier New"/>
              </a:rPr>
              <a:t>:</a:t>
            </a:r>
            <a:r>
              <a:rPr b="1" lang="ru"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You should see numbers larger than VaR.</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CVaR &gt; VaR always.</a:t>
            </a:r>
            <a:endParaRPr sz="1200">
              <a:latin typeface="Courier New"/>
              <a:ea typeface="Courier New"/>
              <a:cs typeface="Courier New"/>
              <a:sym typeface="Courier New"/>
            </a:endParaRPr>
          </a:p>
          <a:p>
            <a:pPr indent="0" lvl="0" marL="0" rtl="0" algn="ctr">
              <a:spcBef>
                <a:spcPts val="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VaR = threshold loss</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CVaR = average loss beyond threshold</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CVaR is institution-level risk measurement.</a:t>
            </a:r>
            <a:endParaRPr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3" name="Shape 133"/>
        <p:cNvGrpSpPr/>
        <p:nvPr/>
      </p:nvGrpSpPr>
      <p:grpSpPr>
        <a:xfrm>
          <a:off x="0" y="0"/>
          <a:ext cx="0" cy="0"/>
          <a:chOff x="0" y="0"/>
          <a:chExt cx="0" cy="0"/>
        </a:xfrm>
      </p:grpSpPr>
      <p:pic>
        <p:nvPicPr>
          <p:cNvPr id="134" name="Google Shape;134;p21" title="Screenshot 2026-03-02 165746.png"/>
          <p:cNvPicPr preferRelativeResize="0"/>
          <p:nvPr/>
        </p:nvPicPr>
        <p:blipFill rotWithShape="1">
          <a:blip r:embed="rId3">
            <a:alphaModFix/>
          </a:blip>
          <a:srcRect b="0" l="0" r="0" t="21832"/>
          <a:stretch/>
        </p:blipFill>
        <p:spPr>
          <a:xfrm>
            <a:off x="3266575" y="3138750"/>
            <a:ext cx="6417424" cy="4277251"/>
          </a:xfrm>
          <a:prstGeom prst="rect">
            <a:avLst/>
          </a:prstGeom>
          <a:noFill/>
          <a:ln>
            <a:noFill/>
          </a:ln>
        </p:spPr>
      </p:pic>
      <p:sp>
        <p:nvSpPr>
          <p:cNvPr id="135" name="Google Shape;135;p21"/>
          <p:cNvSpPr txBox="1"/>
          <p:nvPr/>
        </p:nvSpPr>
        <p:spPr>
          <a:xfrm>
            <a:off x="360000" y="360000"/>
            <a:ext cx="25641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What Does this All Mean!!!!</a:t>
            </a:r>
            <a:r>
              <a:rPr b="1" lang="ru" sz="1500" u="sng">
                <a:latin typeface="Courier New"/>
                <a:ea typeface="Courier New"/>
                <a:cs typeface="Courier New"/>
                <a:sym typeface="Courier New"/>
              </a:rPr>
              <a:t>:</a:t>
            </a:r>
            <a:endParaRPr b="1" sz="15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MC VaR 95 ≈ 7.72%</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MC CVaR 95 ≈ 19.28%</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Parametric VaR 95 ≈ 7.89%</a:t>
            </a:r>
            <a:endParaRPr sz="1200">
              <a:latin typeface="Courier New"/>
              <a:ea typeface="Courier New"/>
              <a:cs typeface="Courier New"/>
              <a:sym typeface="Courier New"/>
            </a:endParaRPr>
          </a:p>
        </p:txBody>
      </p:sp>
      <p:sp>
        <p:nvSpPr>
          <p:cNvPr id="136" name="Google Shape;136;p21"/>
          <p:cNvSpPr txBox="1"/>
          <p:nvPr/>
        </p:nvSpPr>
        <p:spPr>
          <a:xfrm>
            <a:off x="360000" y="3906600"/>
            <a:ext cx="32235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What i have</a:t>
            </a:r>
            <a:r>
              <a:rPr b="1" lang="ru" sz="1500" u="sng">
                <a:latin typeface="Courier New"/>
                <a:ea typeface="Courier New"/>
                <a:cs typeface="Courier New"/>
                <a:sym typeface="Courier New"/>
              </a:rPr>
              <a:t>:</a:t>
            </a:r>
            <a:endParaRPr b="1" sz="15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KPI summary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Sensitivity matrix</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Monte Carlo VaR</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Monte Carlo CVaR</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Full simulated distribution dataset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Clean export pipeline to BI</a:t>
            </a:r>
            <a:endParaRPr sz="1200">
              <a:latin typeface="Courier New"/>
              <a:ea typeface="Courier New"/>
              <a:cs typeface="Courier New"/>
              <a:sym typeface="Courier New"/>
            </a:endParaRPr>
          </a:p>
        </p:txBody>
      </p:sp>
      <p:sp>
        <p:nvSpPr>
          <p:cNvPr id="137" name="Google Shape;137;p21"/>
          <p:cNvSpPr txBox="1"/>
          <p:nvPr/>
        </p:nvSpPr>
        <p:spPr>
          <a:xfrm>
            <a:off x="3583500" y="360000"/>
            <a:ext cx="6014400" cy="207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Interpretation</a:t>
            </a:r>
            <a:r>
              <a:rPr b="1" lang="ru" sz="1500" u="sng">
                <a:latin typeface="Courier New"/>
                <a:ea typeface="Courier New"/>
                <a:cs typeface="Courier New"/>
                <a:sym typeface="Courier New"/>
              </a:rPr>
              <a:t>:</a:t>
            </a:r>
            <a:endParaRPr b="1" sz="1500" u="sng">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Monte Carlo VaR and Parametric VaR are very close</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 My distribution assumption is behaving consistently.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CVaR is much larger (~19%)</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 Once I breach the 95% threshold, the average loss in the tail is materially worse.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***That’s a strong risk insight.</a:t>
            </a:r>
            <a:endParaRPr sz="12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1" name="Shape 141"/>
        <p:cNvGrpSpPr/>
        <p:nvPr/>
      </p:nvGrpSpPr>
      <p:grpSpPr>
        <a:xfrm>
          <a:off x="0" y="0"/>
          <a:ext cx="0" cy="0"/>
          <a:chOff x="0" y="0"/>
          <a:chExt cx="0" cy="0"/>
        </a:xfrm>
      </p:grpSpPr>
      <p:sp>
        <p:nvSpPr>
          <p:cNvPr id="142" name="Google Shape;142;p22"/>
          <p:cNvSpPr txBox="1"/>
          <p:nvPr/>
        </p:nvSpPr>
        <p:spPr>
          <a:xfrm>
            <a:off x="987150" y="270415"/>
            <a:ext cx="8069700" cy="209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600" u="sng">
                <a:latin typeface="Courier New"/>
                <a:ea typeface="Courier New"/>
                <a:cs typeface="Courier New"/>
                <a:sym typeface="Courier New"/>
              </a:rPr>
              <a:t>Day 5 </a:t>
            </a:r>
            <a:r>
              <a:rPr b="1" lang="ru" sz="1600" u="sng">
                <a:latin typeface="Courier New"/>
                <a:ea typeface="Courier New"/>
                <a:cs typeface="Courier New"/>
                <a:sym typeface="Courier New"/>
              </a:rPr>
              <a:t>Backtesting &amp; VaR Validation</a:t>
            </a:r>
            <a:endParaRPr b="1" sz="1600" u="sng">
              <a:latin typeface="Courier New"/>
              <a:ea typeface="Courier New"/>
              <a:cs typeface="Courier New"/>
              <a:sym typeface="Courier New"/>
            </a:endParaRPr>
          </a:p>
          <a:p>
            <a:pPr indent="0" lvl="0" marL="0" rtl="0" algn="ctr">
              <a:spcBef>
                <a:spcPts val="0"/>
              </a:spcBef>
              <a:spcAft>
                <a:spcPts val="0"/>
              </a:spcAft>
              <a:buNone/>
            </a:pPr>
            <a:br>
              <a:rPr b="1" lang="ru" sz="1200">
                <a:latin typeface="Courier New"/>
                <a:ea typeface="Courier New"/>
                <a:cs typeface="Courier New"/>
                <a:sym typeface="Courier New"/>
              </a:rPr>
            </a:br>
            <a:r>
              <a:rPr lang="ru" sz="1200">
                <a:latin typeface="Courier New"/>
                <a:ea typeface="Courier New"/>
                <a:cs typeface="Courier New"/>
                <a:sym typeface="Courier New"/>
              </a:rPr>
              <a:t>Today, We are answering the question: Does your VaR model actually work historically?</a:t>
            </a:r>
            <a:endParaRPr sz="1200">
              <a:latin typeface="Courier New"/>
              <a:ea typeface="Courier New"/>
              <a:cs typeface="Courier New"/>
              <a:sym typeface="Courier New"/>
            </a:endParaRPr>
          </a:p>
          <a:p>
            <a:pPr indent="0" lvl="0" marL="0" rtl="0" algn="ctr">
              <a:spcBef>
                <a:spcPts val="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rPr lang="ru" sz="1200">
                <a:latin typeface="Courier New"/>
                <a:ea typeface="Courier New"/>
                <a:cs typeface="Courier New"/>
                <a:sym typeface="Courier New"/>
              </a:rPr>
              <a:t>This is a real risk management question that needs to be answered!</a:t>
            </a:r>
            <a:endParaRPr sz="1200">
              <a:latin typeface="Courier New"/>
              <a:ea typeface="Courier New"/>
              <a:cs typeface="Courier New"/>
              <a:sym typeface="Courier New"/>
            </a:endParaRPr>
          </a:p>
          <a:p>
            <a:pPr indent="0" lvl="0" marL="0" rtl="0" algn="ctr">
              <a:spcBef>
                <a:spcPts val="0"/>
              </a:spcBef>
              <a:spcAft>
                <a:spcPts val="0"/>
              </a:spcAft>
              <a:buNone/>
            </a:pPr>
            <a:r>
              <a:t/>
            </a:r>
            <a:endParaRPr sz="1200">
              <a:latin typeface="Courier New"/>
              <a:ea typeface="Courier New"/>
              <a:cs typeface="Courier New"/>
              <a:sym typeface="Courier New"/>
            </a:endParaRPr>
          </a:p>
          <a:p>
            <a:pPr indent="0" lvl="0" marL="0" rtl="0" algn="ctr">
              <a:spcBef>
                <a:spcPts val="0"/>
              </a:spcBef>
              <a:spcAft>
                <a:spcPts val="0"/>
              </a:spcAft>
              <a:buNone/>
            </a:pPr>
            <a:r>
              <a:rPr b="1" lang="ru" sz="1200" u="sng">
                <a:latin typeface="Courier New"/>
                <a:ea typeface="Courier New"/>
                <a:cs typeface="Courier New"/>
                <a:sym typeface="Courier New"/>
              </a:rPr>
              <a:t>Deliverables:</a:t>
            </a:r>
            <a:r>
              <a:rPr lang="ru" sz="1200">
                <a:latin typeface="Courier New"/>
                <a:ea typeface="Courier New"/>
                <a:cs typeface="Courier New"/>
                <a:sym typeface="Courier New"/>
              </a:rPr>
              <a:t> at the end of Day 5: a notebook that generates (1) plots, (2) a backtest summary table, and (3) exported CSVs for your portfolio backtesting results.</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p:txBody>
      </p:sp>
      <p:pic>
        <p:nvPicPr>
          <p:cNvPr id="143" name="Google Shape;143;p22" title="Screenshot 2026-03-04 090723.png"/>
          <p:cNvPicPr preferRelativeResize="0"/>
          <p:nvPr/>
        </p:nvPicPr>
        <p:blipFill rotWithShape="1">
          <a:blip r:embed="rId3">
            <a:alphaModFix/>
          </a:blip>
          <a:srcRect b="0" l="23520" r="23520" t="0"/>
          <a:stretch/>
        </p:blipFill>
        <p:spPr>
          <a:xfrm>
            <a:off x="3831500" y="4014300"/>
            <a:ext cx="2793902" cy="3286078"/>
          </a:xfrm>
          <a:prstGeom prst="rect">
            <a:avLst/>
          </a:prstGeom>
          <a:noFill/>
          <a:ln>
            <a:noFill/>
          </a:ln>
        </p:spPr>
      </p:pic>
      <p:sp>
        <p:nvSpPr>
          <p:cNvPr id="144" name="Google Shape;144;p22"/>
          <p:cNvSpPr txBox="1"/>
          <p:nvPr/>
        </p:nvSpPr>
        <p:spPr>
          <a:xfrm>
            <a:off x="277400" y="1924600"/>
            <a:ext cx="3505500" cy="42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200" u="sng">
                <a:latin typeface="Courier New"/>
                <a:ea typeface="Courier New"/>
                <a:cs typeface="Courier New"/>
                <a:sym typeface="Courier New"/>
              </a:rPr>
              <a:t>Day 5 Objective</a:t>
            </a:r>
            <a:endParaRPr b="1" sz="2600" u="sng">
              <a:latin typeface="Courier New"/>
              <a:ea typeface="Courier New"/>
              <a:cs typeface="Courier New"/>
              <a:sym typeface="Courier New"/>
            </a:endParaRPr>
          </a:p>
          <a:p>
            <a:pPr indent="0" lvl="0" marL="0" rtl="0" algn="l">
              <a:spcBef>
                <a:spcPts val="0"/>
              </a:spcBef>
              <a:spcAft>
                <a:spcPts val="0"/>
              </a:spcAft>
              <a:buNone/>
            </a:pPr>
            <a:r>
              <a:rPr b="1" lang="ru">
                <a:latin typeface="Courier New"/>
                <a:ea typeface="Courier New"/>
                <a:cs typeface="Courier New"/>
                <a:sym typeface="Courier New"/>
              </a:rPr>
              <a:t>By the end of today I will:</a:t>
            </a:r>
            <a:endParaRPr b="1">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-Build a VaR backtesting pipeline</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-Computes VaR exceptions (breaches) for each confidence level (e.g., 95%, 99%)</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-Produces backtesting diagnostics (exception rate, clustering, stability over time)</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-Runs standard validation tests (Kupiec POF; optional Christoffersen independence)</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t/>
            </a:r>
            <a:endParaRPr sz="1200">
              <a:latin typeface="Courier New"/>
              <a:ea typeface="Courier New"/>
              <a:cs typeface="Courier New"/>
              <a:sym typeface="Courier New"/>
            </a:endParaRPr>
          </a:p>
          <a:p>
            <a:pPr indent="0" lvl="0" marL="0" marR="0" rtl="0" algn="l">
              <a:lnSpc>
                <a:spcPct val="100000"/>
              </a:lnSpc>
              <a:spcBef>
                <a:spcPts val="0"/>
              </a:spcBef>
              <a:spcAft>
                <a:spcPts val="0"/>
              </a:spcAft>
              <a:buNone/>
            </a:pPr>
            <a:r>
              <a:rPr lang="ru" sz="1200">
                <a:latin typeface="Courier New"/>
                <a:ea typeface="Courier New"/>
                <a:cs typeface="Courier New"/>
                <a:sym typeface="Courier New"/>
              </a:rPr>
              <a:t>-Outputs a Basel-style “traffic light” summary and a clean results table </a:t>
            </a:r>
            <a:endParaRPr sz="1200">
              <a:latin typeface="Courier New"/>
              <a:ea typeface="Courier New"/>
              <a:cs typeface="Courier New"/>
              <a:sym typeface="Courier New"/>
            </a:endParaRPr>
          </a:p>
        </p:txBody>
      </p:sp>
      <p:sp>
        <p:nvSpPr>
          <p:cNvPr id="145" name="Google Shape;145;p22"/>
          <p:cNvSpPr txBox="1"/>
          <p:nvPr/>
        </p:nvSpPr>
        <p:spPr>
          <a:xfrm>
            <a:off x="3906788" y="33470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Rolling Parametric VaR forecasts</a:t>
            </a:r>
            <a:endParaRPr sz="1800">
              <a:solidFill>
                <a:schemeClr val="dk2"/>
              </a:solidFill>
            </a:endParaRPr>
          </a:p>
        </p:txBody>
      </p:sp>
      <p:pic>
        <p:nvPicPr>
          <p:cNvPr id="146" name="Google Shape;146;p22" title="Screenshot 2026-03-04 091846.png"/>
          <p:cNvPicPr preferRelativeResize="0"/>
          <p:nvPr/>
        </p:nvPicPr>
        <p:blipFill rotWithShape="1">
          <a:blip r:embed="rId4">
            <a:alphaModFix/>
          </a:blip>
          <a:srcRect b="8711" l="0" r="0" t="8719"/>
          <a:stretch/>
        </p:blipFill>
        <p:spPr>
          <a:xfrm>
            <a:off x="6921775" y="3347026"/>
            <a:ext cx="2943950" cy="4333650"/>
          </a:xfrm>
          <a:prstGeom prst="rect">
            <a:avLst/>
          </a:prstGeom>
          <a:noFill/>
          <a:ln>
            <a:noFill/>
          </a:ln>
        </p:spPr>
      </p:pic>
      <p:sp>
        <p:nvSpPr>
          <p:cNvPr id="147" name="Google Shape;147;p22"/>
          <p:cNvSpPr txBox="1"/>
          <p:nvPr/>
        </p:nvSpPr>
        <p:spPr>
          <a:xfrm>
            <a:off x="6948188" y="236382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Regulatory VaR validation test</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1" name="Shape 151"/>
        <p:cNvGrpSpPr/>
        <p:nvPr/>
      </p:nvGrpSpPr>
      <p:grpSpPr>
        <a:xfrm>
          <a:off x="0" y="0"/>
          <a:ext cx="0" cy="0"/>
          <a:chOff x="0" y="0"/>
          <a:chExt cx="0" cy="0"/>
        </a:xfrm>
      </p:grpSpPr>
      <p:pic>
        <p:nvPicPr>
          <p:cNvPr id="152" name="Google Shape;152;p23" title="Screenshot 2026-03-04 090944.png"/>
          <p:cNvPicPr preferRelativeResize="0"/>
          <p:nvPr/>
        </p:nvPicPr>
        <p:blipFill rotWithShape="1">
          <a:blip r:embed="rId3">
            <a:alphaModFix/>
          </a:blip>
          <a:srcRect b="0" l="0" r="0" t="0"/>
          <a:stretch/>
        </p:blipFill>
        <p:spPr>
          <a:xfrm>
            <a:off x="3683900" y="3667375"/>
            <a:ext cx="6244450" cy="3748625"/>
          </a:xfrm>
          <a:prstGeom prst="rect">
            <a:avLst/>
          </a:prstGeom>
          <a:noFill/>
          <a:ln>
            <a:noFill/>
          </a:ln>
        </p:spPr>
      </p:pic>
      <p:sp>
        <p:nvSpPr>
          <p:cNvPr id="153" name="Google Shape;153;p23"/>
          <p:cNvSpPr txBox="1"/>
          <p:nvPr/>
        </p:nvSpPr>
        <p:spPr>
          <a:xfrm>
            <a:off x="987150" y="270415"/>
            <a:ext cx="8069700" cy="3140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1200" u="sng">
                <a:latin typeface="Courier New"/>
                <a:ea typeface="Courier New"/>
                <a:cs typeface="Courier New"/>
                <a:sym typeface="Courier New"/>
              </a:rPr>
              <a:t>What i Did:</a:t>
            </a:r>
            <a:r>
              <a:rPr b="1" lang="ru" sz="1200">
                <a:latin typeface="Courier New"/>
                <a:ea typeface="Courier New"/>
                <a:cs typeface="Courier New"/>
                <a:sym typeface="Courier New"/>
              </a:rPr>
              <a:t> defining backtest rules (VaR sign convention + breach definition) in the notebook.</a:t>
            </a:r>
            <a:endParaRPr b="1"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Why? </a:t>
            </a:r>
            <a:br>
              <a:rPr b="1" lang="ru" sz="1200">
                <a:latin typeface="Courier New"/>
                <a:ea typeface="Courier New"/>
                <a:cs typeface="Courier New"/>
                <a:sym typeface="Courier New"/>
              </a:rPr>
            </a:br>
            <a:r>
              <a:rPr b="1" lang="ru" sz="1200">
                <a:latin typeface="Courier New"/>
                <a:ea typeface="Courier New"/>
                <a:cs typeface="Courier New"/>
                <a:sym typeface="Courier New"/>
              </a:rPr>
              <a:t>Risk teams define conventions before calculations.</a:t>
            </a:r>
            <a:endParaRPr b="1"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I just established:</a:t>
            </a:r>
            <a:endParaRPr b="1"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 Confidence levels: 95% and 99%</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 Backtest window: 250 trading days</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 Loss convention: VaR expressed as positive loss</a:t>
            </a:r>
            <a:endParaRPr b="1" sz="1200">
              <a:latin typeface="Courier New"/>
              <a:ea typeface="Courier New"/>
              <a:cs typeface="Courier New"/>
              <a:sym typeface="Courier New"/>
            </a:endParaRPr>
          </a:p>
          <a:p>
            <a:pPr indent="0" lvl="0" marL="0" rtl="0" algn="ctr">
              <a:spcBef>
                <a:spcPts val="0"/>
              </a:spcBef>
              <a:spcAft>
                <a:spcPts val="0"/>
              </a:spcAft>
              <a:buNone/>
            </a:pPr>
            <a:r>
              <a:rPr b="1" lang="ru" sz="1200">
                <a:latin typeface="Courier New"/>
                <a:ea typeface="Courier New"/>
                <a:cs typeface="Courier New"/>
                <a:sym typeface="Courier New"/>
              </a:rPr>
              <a:t>• Exception rule: return &lt; −VaR</a:t>
            </a:r>
            <a:endParaRPr b="1" sz="1200">
              <a:latin typeface="Courier New"/>
              <a:ea typeface="Courier New"/>
              <a:cs typeface="Courier New"/>
              <a:sym typeface="Courier New"/>
            </a:endParaRPr>
          </a:p>
          <a:p>
            <a:pPr indent="0" lvl="0" marL="0" rtl="0" algn="ctr">
              <a:spcBef>
                <a:spcPts val="0"/>
              </a:spcBef>
              <a:spcAft>
                <a:spcPts val="0"/>
              </a:spcAft>
              <a:buNone/>
            </a:pPr>
            <a:r>
              <a:t/>
            </a:r>
            <a:endParaRPr b="1" sz="1200">
              <a:latin typeface="Courier New"/>
              <a:ea typeface="Courier New"/>
              <a:cs typeface="Courier New"/>
              <a:sym typeface="Courier New"/>
            </a:endParaRPr>
          </a:p>
          <a:p>
            <a:pPr indent="457200" lvl="0" marL="457200" rtl="0" algn="l">
              <a:spcBef>
                <a:spcPts val="0"/>
              </a:spcBef>
              <a:spcAft>
                <a:spcPts val="0"/>
              </a:spcAft>
              <a:buNone/>
            </a:pPr>
            <a:r>
              <a:rPr b="1" lang="ru" sz="1200">
                <a:latin typeface="Courier New"/>
                <a:ea typeface="Courier New"/>
                <a:cs typeface="Courier New"/>
                <a:sym typeface="Courier New"/>
              </a:rPr>
              <a:t>This prevents look-ahead bias and inconsistent breach detection.</a:t>
            </a:r>
            <a:br>
              <a:rPr b="1" lang="ru" sz="1200">
                <a:latin typeface="Courier New"/>
                <a:ea typeface="Courier New"/>
                <a:cs typeface="Courier New"/>
                <a:sym typeface="Courier New"/>
              </a:rPr>
            </a:br>
            <a:endParaRPr b="1" sz="1200">
              <a:latin typeface="Courier New"/>
              <a:ea typeface="Courier New"/>
              <a:cs typeface="Courier New"/>
              <a:sym typeface="Courier New"/>
            </a:endParaRPr>
          </a:p>
          <a:p>
            <a:pPr indent="0" lvl="0" marL="0" rtl="0" algn="l">
              <a:spcBef>
                <a:spcPts val="0"/>
              </a:spcBef>
              <a:spcAft>
                <a:spcPts val="0"/>
              </a:spcAft>
              <a:buNone/>
            </a:pPr>
            <a:r>
              <a:rPr b="1" lang="ru" sz="1200" u="sng">
                <a:latin typeface="Courier New"/>
                <a:ea typeface="Courier New"/>
                <a:cs typeface="Courier New"/>
                <a:sym typeface="Courier New"/>
              </a:rPr>
              <a:t>What I did</a:t>
            </a:r>
            <a:r>
              <a:rPr b="1" lang="ru" sz="1200">
                <a:latin typeface="Courier New"/>
                <a:ea typeface="Courier New"/>
                <a:cs typeface="Courier New"/>
                <a:sym typeface="Courier New"/>
              </a:rPr>
              <a:t>: pull the realized portfolio returns from your SQL database</a:t>
            </a:r>
            <a:endParaRPr b="1" sz="1200">
              <a:latin typeface="Courier New"/>
              <a:ea typeface="Courier New"/>
              <a:cs typeface="Courier New"/>
              <a:sym typeface="Courier New"/>
            </a:endParaRPr>
          </a:p>
        </p:txBody>
      </p:sp>
      <p:sp>
        <p:nvSpPr>
          <p:cNvPr id="154" name="Google Shape;154;p23"/>
          <p:cNvSpPr txBox="1"/>
          <p:nvPr/>
        </p:nvSpPr>
        <p:spPr>
          <a:xfrm>
            <a:off x="4617163" y="7346400"/>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Visualize returns vs VaR</a:t>
            </a:r>
            <a:endParaRPr sz="1800">
              <a:solidFill>
                <a:schemeClr val="dk2"/>
              </a:solidFill>
            </a:endParaRPr>
          </a:p>
        </p:txBody>
      </p:sp>
      <p:sp>
        <p:nvSpPr>
          <p:cNvPr id="155" name="Google Shape;155;p23"/>
          <p:cNvSpPr txBox="1"/>
          <p:nvPr/>
        </p:nvSpPr>
        <p:spPr>
          <a:xfrm>
            <a:off x="0" y="3900375"/>
            <a:ext cx="38655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What i Did:</a:t>
            </a:r>
            <a:r>
              <a:rPr b="1" lang="ru" sz="1200">
                <a:latin typeface="Courier New"/>
                <a:ea typeface="Courier New"/>
                <a:cs typeface="Courier New"/>
                <a:sym typeface="Courier New"/>
              </a:rPr>
              <a:t> I implemented a regulatory VaR validation test used in:</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Basel risk frameworks</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bank trading desks</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hedge fund risk monitoring</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fintech risk analytics</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9" name="Shape 159"/>
        <p:cNvGrpSpPr/>
        <p:nvPr/>
      </p:nvGrpSpPr>
      <p:grpSpPr>
        <a:xfrm>
          <a:off x="0" y="0"/>
          <a:ext cx="0" cy="0"/>
          <a:chOff x="0" y="0"/>
          <a:chExt cx="0" cy="0"/>
        </a:xfrm>
      </p:grpSpPr>
      <p:pic>
        <p:nvPicPr>
          <p:cNvPr id="160" name="Google Shape;160;p24" title="Screenshot 2026-03-04 092136.png"/>
          <p:cNvPicPr preferRelativeResize="0"/>
          <p:nvPr/>
        </p:nvPicPr>
        <p:blipFill rotWithShape="1">
          <a:blip r:embed="rId3">
            <a:alphaModFix/>
          </a:blip>
          <a:srcRect b="0" l="5437" r="5428" t="0"/>
          <a:stretch/>
        </p:blipFill>
        <p:spPr>
          <a:xfrm>
            <a:off x="360000" y="1220400"/>
            <a:ext cx="9324000" cy="1667100"/>
          </a:xfrm>
          <a:prstGeom prst="rect">
            <a:avLst/>
          </a:prstGeom>
          <a:noFill/>
          <a:ln>
            <a:noFill/>
          </a:ln>
        </p:spPr>
      </p:pic>
      <p:pic>
        <p:nvPicPr>
          <p:cNvPr id="161" name="Google Shape;161;p24" title="Screenshot 2026-03-04 092550.png"/>
          <p:cNvPicPr preferRelativeResize="0"/>
          <p:nvPr/>
        </p:nvPicPr>
        <p:blipFill rotWithShape="1">
          <a:blip r:embed="rId4">
            <a:alphaModFix/>
          </a:blip>
          <a:srcRect b="0" l="0" r="0" t="0"/>
          <a:stretch/>
        </p:blipFill>
        <p:spPr>
          <a:xfrm>
            <a:off x="2438975" y="3204825"/>
            <a:ext cx="7245025" cy="4211175"/>
          </a:xfrm>
          <a:prstGeom prst="rect">
            <a:avLst/>
          </a:prstGeom>
          <a:noFill/>
          <a:ln>
            <a:noFill/>
          </a:ln>
        </p:spPr>
      </p:pic>
      <p:sp>
        <p:nvSpPr>
          <p:cNvPr id="162" name="Google Shape;162;p24"/>
          <p:cNvSpPr txBox="1"/>
          <p:nvPr/>
        </p:nvSpPr>
        <p:spPr>
          <a:xfrm>
            <a:off x="360000" y="112200"/>
            <a:ext cx="8412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a:latin typeface="Courier New"/>
                <a:ea typeface="Courier New"/>
                <a:cs typeface="Courier New"/>
                <a:sym typeface="Courier New"/>
              </a:rPr>
              <a:t>I validated 1-day 95%/99% VaR forecasts by backtesting against realized portfolio returns, quantifying exceptions, running Kupiec coverage tests, and summarizing model health using a Basel-style traffic light framework.</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Deliverable Below ready for Export ***</a:t>
            </a:r>
            <a:endParaRPr b="1" sz="1200">
              <a:latin typeface="Courier New"/>
              <a:ea typeface="Courier New"/>
              <a:cs typeface="Courier New"/>
              <a:sym typeface="Courier New"/>
            </a:endParaRPr>
          </a:p>
        </p:txBody>
      </p:sp>
      <p:sp>
        <p:nvSpPr>
          <p:cNvPr id="163" name="Google Shape;163;p24"/>
          <p:cNvSpPr txBox="1"/>
          <p:nvPr/>
        </p:nvSpPr>
        <p:spPr>
          <a:xfrm>
            <a:off x="360000" y="3906600"/>
            <a:ext cx="24648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a:latin typeface="Courier New"/>
                <a:ea typeface="Courier New"/>
                <a:cs typeface="Courier New"/>
                <a:sym typeface="Courier New"/>
              </a:rPr>
              <a:t>Reality check:</a:t>
            </a:r>
            <a:br>
              <a:rPr b="1" lang="ru" sz="1200">
                <a:latin typeface="Courier New"/>
                <a:ea typeface="Courier New"/>
                <a:cs typeface="Courier New"/>
                <a:sym typeface="Courier New"/>
              </a:rPr>
            </a:br>
            <a:r>
              <a:rPr b="1" lang="ru" sz="1200">
                <a:latin typeface="Courier New"/>
                <a:ea typeface="Courier New"/>
                <a:cs typeface="Courier New"/>
                <a:sym typeface="Courier New"/>
              </a:rPr>
              <a:t>Do we have a healthy model?</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solidFill>
                  <a:schemeClr val="dk1"/>
                </a:solidFill>
                <a:latin typeface="Courier New"/>
                <a:ea typeface="Courier New"/>
                <a:cs typeface="Courier New"/>
                <a:sym typeface="Courier New"/>
              </a:rPr>
              <a:t>| Value | Meaning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~0    | good</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&gt;0.3  | clustering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&lt;0    | random    </a:t>
            </a:r>
            <a:r>
              <a:rPr b="1" lang="ru" sz="1200">
                <a:latin typeface="Courier New"/>
                <a:ea typeface="Courier New"/>
                <a:cs typeface="Courier New"/>
                <a:sym typeface="Courier New"/>
              </a:rPr>
              <a:t> </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Our Number: -.06        </a:t>
            </a:r>
            <a:endParaRPr b="1" sz="1200">
              <a:latin typeface="Courier New"/>
              <a:ea typeface="Courier New"/>
              <a:cs typeface="Courier New"/>
              <a:sym typeface="Courier New"/>
            </a:endParaRPr>
          </a:p>
          <a:p>
            <a:pPr indent="0" lvl="0" marL="0" rtl="0" algn="l">
              <a:spcBef>
                <a:spcPts val="0"/>
              </a:spcBef>
              <a:spcAft>
                <a:spcPts val="0"/>
              </a:spcAft>
              <a:buNone/>
            </a:pP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Healthy models show a wide spread of spacing.</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Graph on right checks out!</a:t>
            </a:r>
            <a:endParaRPr sz="12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7" name="Shape 167"/>
        <p:cNvGrpSpPr/>
        <p:nvPr/>
      </p:nvGrpSpPr>
      <p:grpSpPr>
        <a:xfrm>
          <a:off x="0" y="0"/>
          <a:ext cx="0" cy="0"/>
          <a:chOff x="0" y="0"/>
          <a:chExt cx="0" cy="0"/>
        </a:xfrm>
      </p:grpSpPr>
      <p:pic>
        <p:nvPicPr>
          <p:cNvPr id="168" name="Google Shape;168;p25" title="Screenshot 2026-03-04 093347.png"/>
          <p:cNvPicPr preferRelativeResize="0"/>
          <p:nvPr/>
        </p:nvPicPr>
        <p:blipFill rotWithShape="1">
          <a:blip r:embed="rId3">
            <a:alphaModFix/>
          </a:blip>
          <a:srcRect b="0" l="4808" r="4808" t="0"/>
          <a:stretch/>
        </p:blipFill>
        <p:spPr>
          <a:xfrm>
            <a:off x="360000" y="644274"/>
            <a:ext cx="4583977" cy="6771727"/>
          </a:xfrm>
          <a:prstGeom prst="rect">
            <a:avLst/>
          </a:prstGeom>
          <a:noFill/>
          <a:ln>
            <a:noFill/>
          </a:ln>
        </p:spPr>
      </p:pic>
      <p:sp>
        <p:nvSpPr>
          <p:cNvPr id="169" name="Google Shape;169;p25"/>
          <p:cNvSpPr txBox="1"/>
          <p:nvPr/>
        </p:nvSpPr>
        <p:spPr>
          <a:xfrm>
            <a:off x="5715825" y="478301"/>
            <a:ext cx="3968100" cy="6326100"/>
          </a:xfrm>
          <a:prstGeom prst="rect">
            <a:avLst/>
          </a:prstGeom>
          <a:noFill/>
          <a:ln>
            <a:noFill/>
          </a:ln>
        </p:spPr>
        <p:txBody>
          <a:bodyPr anchorCtr="0" anchor="t" bIns="91425" lIns="91425" spcFirstLastPara="1" rIns="91425" wrap="square" tIns="91425">
            <a:spAutoFit/>
          </a:bodyPr>
          <a:lstStyle/>
          <a:p>
            <a:pPr indent="0" lvl="0" marL="0" rtl="0" algn="r">
              <a:lnSpc>
                <a:spcPct val="150000"/>
              </a:lnSpc>
              <a:spcBef>
                <a:spcPts val="0"/>
              </a:spcBef>
              <a:spcAft>
                <a:spcPts val="0"/>
              </a:spcAft>
              <a:buNone/>
            </a:pPr>
            <a:r>
              <a:rPr b="1" lang="ru" sz="1800" u="sng">
                <a:latin typeface="Comfortaa"/>
                <a:ea typeface="Comfortaa"/>
                <a:cs typeface="Comfortaa"/>
                <a:sym typeface="Comfortaa"/>
              </a:rPr>
              <a:t>Day 5 Intermission:</a:t>
            </a:r>
            <a:br>
              <a:rPr b="1" lang="ru" sz="1800" u="sng">
                <a:latin typeface="Comfortaa"/>
                <a:ea typeface="Comfortaa"/>
                <a:cs typeface="Comfortaa"/>
                <a:sym typeface="Comfortaa"/>
              </a:rPr>
            </a:br>
            <a:br>
              <a:rPr b="1" lang="ru" sz="1200">
                <a:latin typeface="Courier New"/>
                <a:ea typeface="Courier New"/>
                <a:cs typeface="Courier New"/>
                <a:sym typeface="Courier New"/>
              </a:rPr>
            </a:br>
            <a:r>
              <a:rPr lang="ru" sz="1200">
                <a:latin typeface="Courier New"/>
                <a:ea typeface="Courier New"/>
                <a:cs typeface="Courier New"/>
                <a:sym typeface="Courier New"/>
              </a:rPr>
              <a:t>Over the past five days, I built a portfolio risk monitoring workflow that helps evaluate how much loss a portfolio could experience during volatile market conditions. I first organized historical price data in a structured database and calculated daily portfolio returns. Using this data, I developed risk metrics such as volatility, Sharpe ratio, and Value-at-Risk (VaR), and simulated thousands of potential market scenarios with Monte Carlo analysis to estimate potential losses. I then validated the model by comparing predicted risk levels to actual outcomes, measuring when losses exceeded forecasts. The result is a transparent risk framework that helps managers understand portfolio risk and assess whether the model reliably captures market uncertainty. </a:t>
            </a:r>
            <a:endParaRPr sz="12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3" name="Shape 173"/>
        <p:cNvGrpSpPr/>
        <p:nvPr/>
      </p:nvGrpSpPr>
      <p:grpSpPr>
        <a:xfrm>
          <a:off x="0" y="0"/>
          <a:ext cx="0" cy="0"/>
          <a:chOff x="0" y="0"/>
          <a:chExt cx="0" cy="0"/>
        </a:xfrm>
      </p:grpSpPr>
      <p:pic>
        <p:nvPicPr>
          <p:cNvPr id="174" name="Google Shape;174;p26" title="Screenshot 2026-03-04 095720.png"/>
          <p:cNvPicPr preferRelativeResize="0"/>
          <p:nvPr/>
        </p:nvPicPr>
        <p:blipFill rotWithShape="1">
          <a:blip r:embed="rId3">
            <a:alphaModFix/>
          </a:blip>
          <a:srcRect b="0" l="3358" r="3367" t="0"/>
          <a:stretch/>
        </p:blipFill>
        <p:spPr>
          <a:xfrm>
            <a:off x="4063850" y="574800"/>
            <a:ext cx="5620149" cy="3008150"/>
          </a:xfrm>
          <a:prstGeom prst="rect">
            <a:avLst/>
          </a:prstGeom>
          <a:noFill/>
          <a:ln>
            <a:noFill/>
          </a:ln>
        </p:spPr>
      </p:pic>
      <p:sp>
        <p:nvSpPr>
          <p:cNvPr id="175" name="Google Shape;175;p26"/>
          <p:cNvSpPr txBox="1"/>
          <p:nvPr/>
        </p:nvSpPr>
        <p:spPr>
          <a:xfrm>
            <a:off x="360000" y="0"/>
            <a:ext cx="35055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6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Extend my risk framework beyond VaR by calculating Expected Shortfall (CVaR)—the average loss when VaR is breached.</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Why?: This improves risk measurement because VaR tells you the threshold, while CVaR tells you how severe losses are when things go wrong.</a:t>
            </a:r>
            <a:endParaRPr sz="1200">
              <a:latin typeface="Courier New"/>
              <a:ea typeface="Courier New"/>
              <a:cs typeface="Courier New"/>
              <a:sym typeface="Courier New"/>
            </a:endParaRPr>
          </a:p>
        </p:txBody>
      </p:sp>
      <p:sp>
        <p:nvSpPr>
          <p:cNvPr id="176" name="Google Shape;176;p26"/>
          <p:cNvSpPr txBox="1"/>
          <p:nvPr/>
        </p:nvSpPr>
        <p:spPr>
          <a:xfrm>
            <a:off x="360000" y="3906600"/>
            <a:ext cx="4513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Deliverables today:</a:t>
            </a:r>
            <a:endParaRPr b="1" sz="1200" u="sng">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Daily CVaR estimates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Tail loss analysis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VaR vs CVaR comparison chart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Exported results for the project</a:t>
            </a:r>
            <a:endParaRPr sz="1200">
              <a:latin typeface="Courier New"/>
              <a:ea typeface="Courier New"/>
              <a:cs typeface="Courier New"/>
              <a:sym typeface="Courier New"/>
            </a:endParaRPr>
          </a:p>
        </p:txBody>
      </p:sp>
      <p:sp>
        <p:nvSpPr>
          <p:cNvPr id="177" name="Google Shape;177;p26"/>
          <p:cNvSpPr txBox="1"/>
          <p:nvPr/>
        </p:nvSpPr>
        <p:spPr>
          <a:xfrm>
            <a:off x="5290175" y="1452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Compare CVaR and VaR</a:t>
            </a:r>
            <a:endParaRPr sz="1800">
              <a:solidFill>
                <a:schemeClr val="dk2"/>
              </a:solidFill>
            </a:endParaRPr>
          </a:p>
        </p:txBody>
      </p:sp>
      <p:sp>
        <p:nvSpPr>
          <p:cNvPr id="178" name="Google Shape;178;p26"/>
          <p:cNvSpPr txBox="1"/>
          <p:nvPr/>
        </p:nvSpPr>
        <p:spPr>
          <a:xfrm>
            <a:off x="5170800" y="3537150"/>
            <a:ext cx="4513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Transferable</a:t>
            </a:r>
            <a:r>
              <a:rPr b="1" lang="ru" sz="1200" u="sng">
                <a:latin typeface="Courier New"/>
                <a:ea typeface="Courier New"/>
                <a:cs typeface="Courier New"/>
                <a:sym typeface="Courier New"/>
              </a:rPr>
              <a:t> Skills Shown:</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Tail risk measurement using Expected Shortfall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Financial risk model comparison (VaR vs CVaR)</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Scenario-driven loss analysis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Risk communication for non-technical stakeholders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Quantitative portfolio diagnostics</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p:txBody>
      </p:sp>
      <p:sp>
        <p:nvSpPr>
          <p:cNvPr id="179" name="Google Shape;179;p26"/>
          <p:cNvSpPr txBox="1"/>
          <p:nvPr/>
        </p:nvSpPr>
        <p:spPr>
          <a:xfrm>
            <a:off x="2765400" y="5928900"/>
            <a:ext cx="4513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Communication to Stakeholders:</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I exxtended the portfolio risk framework to include Expected Shortfall, enabling deeper analysis of extreme losses beyond VaR thresholds and improving the model’s ability to capture tail risk during volatile market conditions.</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3" name="Shape 183"/>
        <p:cNvGrpSpPr/>
        <p:nvPr/>
      </p:nvGrpSpPr>
      <p:grpSpPr>
        <a:xfrm>
          <a:off x="0" y="0"/>
          <a:ext cx="0" cy="0"/>
          <a:chOff x="0" y="0"/>
          <a:chExt cx="0" cy="0"/>
        </a:xfrm>
      </p:grpSpPr>
      <p:pic>
        <p:nvPicPr>
          <p:cNvPr id="184" name="Google Shape;184;p27" title="Screenshot 2026-03-04 100758.png"/>
          <p:cNvPicPr preferRelativeResize="0"/>
          <p:nvPr/>
        </p:nvPicPr>
        <p:blipFill rotWithShape="1">
          <a:blip r:embed="rId3">
            <a:alphaModFix/>
          </a:blip>
          <a:srcRect b="0" l="11282" r="11282" t="0"/>
          <a:stretch/>
        </p:blipFill>
        <p:spPr>
          <a:xfrm>
            <a:off x="1220738" y="2216725"/>
            <a:ext cx="7602525" cy="5067124"/>
          </a:xfrm>
          <a:prstGeom prst="rect">
            <a:avLst/>
          </a:prstGeom>
          <a:noFill/>
          <a:ln>
            <a:noFill/>
          </a:ln>
        </p:spPr>
      </p:pic>
      <p:sp>
        <p:nvSpPr>
          <p:cNvPr id="185" name="Google Shape;185;p27"/>
          <p:cNvSpPr txBox="1"/>
          <p:nvPr/>
        </p:nvSpPr>
        <p:spPr>
          <a:xfrm>
            <a:off x="82600" y="145250"/>
            <a:ext cx="59307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More Presentation Friendly Updates</a:t>
            </a:r>
            <a:r>
              <a:rPr b="1" lang="ru" sz="1500" u="sng">
                <a:latin typeface="Courier New"/>
                <a:ea typeface="Courier New"/>
                <a:cs typeface="Courier New"/>
                <a:sym typeface="Courier New"/>
              </a:rPr>
              <a:t>:</a:t>
            </a:r>
            <a:endParaRPr b="1" sz="1500" u="sng">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Upgrade 1: Plot losses as positive numbers (easier for non-technical viewers)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Upgrade 2: Highlight breach days on the chart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Upgrade 3: Format y-axis as %</a:t>
            </a:r>
            <a:endParaRPr sz="1200">
              <a:latin typeface="Courier New"/>
              <a:ea typeface="Courier New"/>
              <a:cs typeface="Courier New"/>
              <a:sym typeface="Courier New"/>
            </a:endParaRPr>
          </a:p>
        </p:txBody>
      </p:sp>
      <p:sp>
        <p:nvSpPr>
          <p:cNvPr id="186" name="Google Shape;186;p27"/>
          <p:cNvSpPr txBox="1"/>
          <p:nvPr/>
        </p:nvSpPr>
        <p:spPr>
          <a:xfrm>
            <a:off x="5732350" y="260750"/>
            <a:ext cx="3799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What you should see: (Reality Check)</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a:t>
            </a:r>
            <a:r>
              <a:rPr lang="ru"/>
              <a:t>Loss spikes upward</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a:t>
            </a:r>
            <a:r>
              <a:rPr lang="ru"/>
              <a:t>CVaR line above VaR line (because CVaR is worse tail loss)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0" name="Shape 190"/>
        <p:cNvGrpSpPr/>
        <p:nvPr/>
      </p:nvGrpSpPr>
      <p:grpSpPr>
        <a:xfrm>
          <a:off x="0" y="0"/>
          <a:ext cx="0" cy="0"/>
          <a:chOff x="0" y="0"/>
          <a:chExt cx="0" cy="0"/>
        </a:xfrm>
      </p:grpSpPr>
      <p:pic>
        <p:nvPicPr>
          <p:cNvPr id="191" name="Google Shape;191;p28" title="Screenshot 2026-03-04 102251.png"/>
          <p:cNvPicPr preferRelativeResize="0"/>
          <p:nvPr/>
        </p:nvPicPr>
        <p:blipFill rotWithShape="1">
          <a:blip r:embed="rId3">
            <a:alphaModFix/>
          </a:blip>
          <a:srcRect b="-3844" l="-2008" r="-2018" t="-3844"/>
          <a:stretch/>
        </p:blipFill>
        <p:spPr>
          <a:xfrm>
            <a:off x="4063850" y="574800"/>
            <a:ext cx="5620149" cy="3008150"/>
          </a:xfrm>
          <a:prstGeom prst="rect">
            <a:avLst/>
          </a:prstGeom>
          <a:noFill/>
          <a:ln>
            <a:noFill/>
          </a:ln>
        </p:spPr>
      </p:pic>
      <p:sp>
        <p:nvSpPr>
          <p:cNvPr id="192" name="Google Shape;192;p28"/>
          <p:cNvSpPr txBox="1"/>
          <p:nvPr/>
        </p:nvSpPr>
        <p:spPr>
          <a:xfrm>
            <a:off x="360000" y="0"/>
            <a:ext cx="3505500" cy="584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7 — Stress Testing &amp; Scenario Analysis</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Create a stress testing module that answers: “What happens to my portfolio under extreme market moves?” </a:t>
            </a: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using:</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457200" lvl="0" marL="0" rtl="0" algn="l">
              <a:spcBef>
                <a:spcPts val="0"/>
              </a:spcBef>
              <a:spcAft>
                <a:spcPts val="0"/>
              </a:spcAft>
              <a:buNone/>
            </a:pPr>
            <a:r>
              <a:rPr lang="ru" sz="1200">
                <a:latin typeface="Courier New"/>
                <a:ea typeface="Courier New"/>
                <a:cs typeface="Courier New"/>
                <a:sym typeface="Courier New"/>
              </a:rPr>
              <a:t>Historical stress window from data (COVID crash period in 2020, since data starts ~2019)</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457200" lvl="0" marL="0" rtl="0" algn="l">
              <a:spcBef>
                <a:spcPts val="0"/>
              </a:spcBef>
              <a:spcAft>
                <a:spcPts val="0"/>
              </a:spcAft>
              <a:buNone/>
            </a:pPr>
            <a:r>
              <a:rPr lang="ru" sz="1200">
                <a:latin typeface="Courier New"/>
                <a:ea typeface="Courier New"/>
                <a:cs typeface="Courier New"/>
                <a:sym typeface="Courier New"/>
              </a:rPr>
              <a:t>Hypothetical shocks (e.g., −5%, −10%, −20% one-day move; volatility doubling)</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457200" lvl="0" marL="0" rtl="0" algn="l">
              <a:spcBef>
                <a:spcPts val="0"/>
              </a:spcBef>
              <a:spcAft>
                <a:spcPts val="0"/>
              </a:spcAft>
              <a:buNone/>
            </a:pPr>
            <a:r>
              <a:rPr lang="ru" sz="1200">
                <a:latin typeface="Courier New"/>
                <a:ea typeface="Courier New"/>
                <a:cs typeface="Courier New"/>
                <a:sym typeface="Courier New"/>
              </a:rPr>
              <a:t>Clear outputs for stakeholders: loss estimates, VaR/CVaR under stress, and scenario summary table</a:t>
            </a:r>
            <a:endParaRPr sz="1200">
              <a:latin typeface="Courier New"/>
              <a:ea typeface="Courier New"/>
              <a:cs typeface="Courier New"/>
              <a:sym typeface="Courier New"/>
            </a:endParaRPr>
          </a:p>
        </p:txBody>
      </p:sp>
      <p:sp>
        <p:nvSpPr>
          <p:cNvPr id="193" name="Google Shape;193;p28"/>
          <p:cNvSpPr txBox="1"/>
          <p:nvPr/>
        </p:nvSpPr>
        <p:spPr>
          <a:xfrm>
            <a:off x="5290175" y="1452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Define Stress Scenarios</a:t>
            </a:r>
            <a:endParaRPr sz="1800">
              <a:solidFill>
                <a:schemeClr val="dk2"/>
              </a:solidFill>
            </a:endParaRPr>
          </a:p>
        </p:txBody>
      </p:sp>
      <p:pic>
        <p:nvPicPr>
          <p:cNvPr id="194" name="Google Shape;194;p28" title="Screenshot 2026-03-04 103428.png"/>
          <p:cNvPicPr preferRelativeResize="0"/>
          <p:nvPr/>
        </p:nvPicPr>
        <p:blipFill rotWithShape="1">
          <a:blip r:embed="rId4">
            <a:alphaModFix/>
          </a:blip>
          <a:srcRect b="0" l="4355" r="4346" t="0"/>
          <a:stretch/>
        </p:blipFill>
        <p:spPr>
          <a:xfrm>
            <a:off x="4221025" y="4592800"/>
            <a:ext cx="5620149" cy="3008150"/>
          </a:xfrm>
          <a:prstGeom prst="rect">
            <a:avLst/>
          </a:prstGeom>
          <a:noFill/>
          <a:ln>
            <a:noFill/>
          </a:ln>
        </p:spPr>
      </p:pic>
      <p:sp>
        <p:nvSpPr>
          <p:cNvPr id="195" name="Google Shape;195;p28"/>
          <p:cNvSpPr txBox="1"/>
          <p:nvPr/>
        </p:nvSpPr>
        <p:spPr>
          <a:xfrm>
            <a:off x="5191050" y="376675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Visualize Scenario Losses</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9" name="Shape 199"/>
        <p:cNvGrpSpPr/>
        <p:nvPr/>
      </p:nvGrpSpPr>
      <p:grpSpPr>
        <a:xfrm>
          <a:off x="0" y="0"/>
          <a:ext cx="0" cy="0"/>
          <a:chOff x="0" y="0"/>
          <a:chExt cx="0" cy="0"/>
        </a:xfrm>
      </p:grpSpPr>
      <p:sp>
        <p:nvSpPr>
          <p:cNvPr id="200" name="Google Shape;200;p29"/>
          <p:cNvSpPr txBox="1"/>
          <p:nvPr/>
        </p:nvSpPr>
        <p:spPr>
          <a:xfrm>
            <a:off x="360000" y="268050"/>
            <a:ext cx="5091600" cy="13392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ru" sz="1500" u="sng">
                <a:latin typeface="Courier New"/>
                <a:ea typeface="Courier New"/>
                <a:cs typeface="Courier New"/>
                <a:sym typeface="Courier New"/>
              </a:rPr>
              <a:t>Lets Answer the Question</a:t>
            </a:r>
            <a:endParaRPr b="1" sz="1500" u="sng">
              <a:latin typeface="Courier New"/>
              <a:ea typeface="Courier New"/>
              <a:cs typeface="Courier New"/>
              <a:sym typeface="Courier New"/>
            </a:endParaRPr>
          </a:p>
          <a:p>
            <a:pPr indent="0" lvl="0" marL="0" rtl="0" algn="ctr">
              <a:lnSpc>
                <a:spcPct val="100000"/>
              </a:lnSpc>
              <a:spcBef>
                <a:spcPts val="0"/>
              </a:spcBef>
              <a:spcAft>
                <a:spcPts val="0"/>
              </a:spcAft>
              <a:buNone/>
            </a:pPr>
            <a:r>
              <a:t/>
            </a:r>
            <a:endParaRPr b="1" sz="1500">
              <a:latin typeface="Courier New"/>
              <a:ea typeface="Courier New"/>
              <a:cs typeface="Courier New"/>
              <a:sym typeface="Courier New"/>
            </a:endParaRPr>
          </a:p>
          <a:p>
            <a:pPr indent="0" lvl="0" marL="457200" rtl="0" algn="ctr">
              <a:lnSpc>
                <a:spcPct val="100000"/>
              </a:lnSpc>
              <a:spcBef>
                <a:spcPts val="0"/>
              </a:spcBef>
              <a:spcAft>
                <a:spcPts val="0"/>
              </a:spcAft>
              <a:buNone/>
            </a:pPr>
            <a:r>
              <a:rPr b="1" lang="ru" sz="1500">
                <a:latin typeface="Courier New"/>
                <a:ea typeface="Courier New"/>
                <a:cs typeface="Courier New"/>
                <a:sym typeface="Courier New"/>
              </a:rPr>
              <a:t>If volatility jumps (or markets crash), how much worse does our VaR get?</a:t>
            </a:r>
            <a:endParaRPr b="1" sz="1500">
              <a:latin typeface="Courier New"/>
              <a:ea typeface="Courier New"/>
              <a:cs typeface="Courier New"/>
              <a:sym typeface="Courier New"/>
            </a:endParaRPr>
          </a:p>
        </p:txBody>
      </p:sp>
      <p:pic>
        <p:nvPicPr>
          <p:cNvPr id="201" name="Google Shape;201;p29" title="Screenshot 2026-03-04 103856.png"/>
          <p:cNvPicPr preferRelativeResize="0"/>
          <p:nvPr/>
        </p:nvPicPr>
        <p:blipFill rotWithShape="1">
          <a:blip r:embed="rId3">
            <a:alphaModFix/>
          </a:blip>
          <a:srcRect b="0" l="2954" r="2954" t="0"/>
          <a:stretch/>
        </p:blipFill>
        <p:spPr>
          <a:xfrm>
            <a:off x="807686" y="3898650"/>
            <a:ext cx="8428626" cy="3621300"/>
          </a:xfrm>
          <a:prstGeom prst="rect">
            <a:avLst/>
          </a:prstGeom>
          <a:noFill/>
          <a:ln>
            <a:noFill/>
          </a:ln>
        </p:spPr>
      </p:pic>
      <p:sp>
        <p:nvSpPr>
          <p:cNvPr id="202" name="Google Shape;202;p29"/>
          <p:cNvSpPr txBox="1"/>
          <p:nvPr/>
        </p:nvSpPr>
        <p:spPr>
          <a:xfrm>
            <a:off x="5993225" y="360000"/>
            <a:ext cx="3621300" cy="3140100"/>
          </a:xfrm>
          <a:prstGeom prst="rect">
            <a:avLst/>
          </a:prstGeom>
          <a:noFill/>
          <a:ln>
            <a:noFill/>
          </a:ln>
        </p:spPr>
        <p:txBody>
          <a:bodyPr anchorCtr="0" anchor="t" bIns="91425" lIns="91425" spcFirstLastPara="1" rIns="91425" wrap="square" tIns="91425">
            <a:spAutoFit/>
          </a:bodyPr>
          <a:lstStyle/>
          <a:p>
            <a:pPr indent="0" lvl="0" marL="457200" rtl="0" algn="r">
              <a:lnSpc>
                <a:spcPct val="100000"/>
              </a:lnSpc>
              <a:spcBef>
                <a:spcPts val="0"/>
              </a:spcBef>
              <a:spcAft>
                <a:spcPts val="0"/>
              </a:spcAft>
              <a:buNone/>
            </a:pPr>
            <a:r>
              <a:rPr b="1" lang="ru" sz="1200" u="sng">
                <a:latin typeface="Courier New"/>
                <a:ea typeface="Courier New"/>
                <a:cs typeface="Courier New"/>
                <a:sym typeface="Courier New"/>
              </a:rPr>
              <a:t>What Day 7 added to my project</a:t>
            </a:r>
            <a:endParaRPr b="1" sz="1200" u="sng">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b="1" sz="1200" u="sng">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You now have a full stress</a:t>
            </a:r>
            <a:r>
              <a:rPr lang="ru" sz="1200">
                <a:latin typeface="Courier New"/>
                <a:ea typeface="Courier New"/>
                <a:cs typeface="Courier New"/>
                <a:sym typeface="Courier New"/>
              </a:rPr>
              <a:t> </a:t>
            </a:r>
            <a:r>
              <a:rPr lang="ru" sz="1200">
                <a:latin typeface="Courier New"/>
                <a:ea typeface="Courier New"/>
                <a:cs typeface="Courier New"/>
                <a:sym typeface="Courier New"/>
              </a:rPr>
              <a:t>testing module:</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Market shock scenarios</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Volatility spike analysis</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Stressed VaR</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Scenario loss estimates</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Visual charts</a:t>
            </a:r>
            <a:endParaRPr sz="1200">
              <a:latin typeface="Courier New"/>
              <a:ea typeface="Courier New"/>
              <a:cs typeface="Courier New"/>
              <a:sym typeface="Courier New"/>
            </a:endParaRPr>
          </a:p>
          <a:p>
            <a:pPr indent="0" lvl="0" marL="457200" rtl="0" algn="l">
              <a:lnSpc>
                <a:spcPct val="100000"/>
              </a:lnSpc>
              <a:spcBef>
                <a:spcPts val="0"/>
              </a:spcBef>
              <a:spcAft>
                <a:spcPts val="0"/>
              </a:spcAft>
              <a:buNone/>
            </a:pPr>
            <a:r>
              <a:t/>
            </a:r>
            <a:endParaRPr sz="1200">
              <a:latin typeface="Courier New"/>
              <a:ea typeface="Courier New"/>
              <a:cs typeface="Courier New"/>
              <a:sym typeface="Courier New"/>
            </a:endParaRPr>
          </a:p>
          <a:p>
            <a:pPr indent="-304800" lvl="0" marL="457200" rtl="0" algn="l">
              <a:lnSpc>
                <a:spcPct val="100000"/>
              </a:lnSpc>
              <a:spcBef>
                <a:spcPts val="0"/>
              </a:spcBef>
              <a:spcAft>
                <a:spcPts val="0"/>
              </a:spcAft>
              <a:buSzPts val="1200"/>
              <a:buFont typeface="Courier New"/>
              <a:buChar char="●"/>
            </a:pPr>
            <a:r>
              <a:rPr lang="ru" sz="1200">
                <a:latin typeface="Courier New"/>
                <a:ea typeface="Courier New"/>
                <a:cs typeface="Courier New"/>
                <a:sym typeface="Courier New"/>
              </a:rPr>
              <a:t>Manager-ready summary table</a:t>
            </a:r>
            <a:endParaRPr sz="1200">
              <a:latin typeface="Courier New"/>
              <a:ea typeface="Courier New"/>
              <a:cs typeface="Courier New"/>
              <a:sym typeface="Courier New"/>
            </a:endParaRPr>
          </a:p>
        </p:txBody>
      </p:sp>
      <p:sp>
        <p:nvSpPr>
          <p:cNvPr id="203" name="Google Shape;203;p29"/>
          <p:cNvSpPr txBox="1"/>
          <p:nvPr/>
        </p:nvSpPr>
        <p:spPr>
          <a:xfrm>
            <a:off x="807675" y="30705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Readable Table for Stakeholders</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07" name="Shape 207"/>
        <p:cNvGrpSpPr/>
        <p:nvPr/>
      </p:nvGrpSpPr>
      <p:grpSpPr>
        <a:xfrm>
          <a:off x="0" y="0"/>
          <a:ext cx="0" cy="0"/>
          <a:chOff x="0" y="0"/>
          <a:chExt cx="0" cy="0"/>
        </a:xfrm>
      </p:grpSpPr>
      <p:pic>
        <p:nvPicPr>
          <p:cNvPr id="208" name="Google Shape;208;p30" title="Screenshot 2026-03-04 095720.png"/>
          <p:cNvPicPr preferRelativeResize="0"/>
          <p:nvPr/>
        </p:nvPicPr>
        <p:blipFill rotWithShape="1">
          <a:blip r:embed="rId3">
            <a:alphaModFix/>
          </a:blip>
          <a:srcRect b="0" l="3358" r="3367" t="0"/>
          <a:stretch/>
        </p:blipFill>
        <p:spPr>
          <a:xfrm>
            <a:off x="4063850" y="574800"/>
            <a:ext cx="5620149" cy="3008150"/>
          </a:xfrm>
          <a:prstGeom prst="rect">
            <a:avLst/>
          </a:prstGeom>
          <a:noFill/>
          <a:ln>
            <a:noFill/>
          </a:ln>
        </p:spPr>
      </p:pic>
      <p:sp>
        <p:nvSpPr>
          <p:cNvPr id="209" name="Google Shape;209;p30"/>
          <p:cNvSpPr txBox="1"/>
          <p:nvPr/>
        </p:nvSpPr>
        <p:spPr>
          <a:xfrm>
            <a:off x="360000" y="0"/>
            <a:ext cx="35055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8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Break down total portfolio volatility to show which stocks contribute most to portfolio risk.</a:t>
            </a:r>
            <a:endParaRPr sz="1200">
              <a:latin typeface="Courier New"/>
              <a:ea typeface="Courier New"/>
              <a:cs typeface="Courier New"/>
              <a:sym typeface="Courier New"/>
            </a:endParaRPr>
          </a:p>
        </p:txBody>
      </p:sp>
      <p:sp>
        <p:nvSpPr>
          <p:cNvPr id="210" name="Google Shape;210;p30"/>
          <p:cNvSpPr txBox="1"/>
          <p:nvPr/>
        </p:nvSpPr>
        <p:spPr>
          <a:xfrm>
            <a:off x="5290175" y="1452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Compare CVaR and VaR</a:t>
            </a:r>
            <a:endParaRPr sz="1800">
              <a:solidFill>
                <a:schemeClr val="dk2"/>
              </a:solidFill>
            </a:endParaRPr>
          </a:p>
        </p:txBody>
      </p:sp>
      <p:sp>
        <p:nvSpPr>
          <p:cNvPr id="211" name="Google Shape;211;p30"/>
          <p:cNvSpPr txBox="1"/>
          <p:nvPr/>
        </p:nvSpPr>
        <p:spPr>
          <a:xfrm>
            <a:off x="360000" y="2487500"/>
            <a:ext cx="3221400" cy="193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u="sng">
                <a:latin typeface="Courier New"/>
                <a:ea typeface="Courier New"/>
                <a:cs typeface="Courier New"/>
                <a:sym typeface="Courier New"/>
              </a:rPr>
              <a:t>I am </a:t>
            </a:r>
            <a:r>
              <a:rPr b="1" lang="ru" sz="1500" u="sng">
                <a:latin typeface="Courier New"/>
                <a:ea typeface="Courier New"/>
                <a:cs typeface="Courier New"/>
                <a:sym typeface="Courier New"/>
              </a:rPr>
              <a:t>showing</a:t>
            </a:r>
            <a:r>
              <a:rPr b="1" lang="ru" sz="1500" u="sng">
                <a:latin typeface="Courier New"/>
                <a:ea typeface="Courier New"/>
                <a:cs typeface="Courier New"/>
                <a:sym typeface="Courier New"/>
              </a:rPr>
              <a:t> “risk contribution analysis”</a:t>
            </a:r>
            <a:r>
              <a:rPr b="1" lang="ru" sz="1500" u="sng">
                <a:latin typeface="Courier New"/>
                <a:ea typeface="Courier New"/>
                <a:cs typeface="Courier New"/>
                <a:sym typeface="Courier New"/>
              </a:rPr>
              <a:t>:</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Let’s Answer the Question: </a:t>
            </a:r>
            <a:br>
              <a:rPr lang="ru" sz="1200">
                <a:latin typeface="Courier New"/>
                <a:ea typeface="Courier New"/>
                <a:cs typeface="Courier New"/>
                <a:sym typeface="Courier New"/>
              </a:rPr>
            </a:b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What positions are driving our portfolio risk?</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p:txBody>
      </p:sp>
      <p:sp>
        <p:nvSpPr>
          <p:cNvPr id="212" name="Google Shape;212;p30"/>
          <p:cNvSpPr txBox="1"/>
          <p:nvPr/>
        </p:nvSpPr>
        <p:spPr>
          <a:xfrm>
            <a:off x="254400" y="4873050"/>
            <a:ext cx="36801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700" u="sng">
                <a:solidFill>
                  <a:schemeClr val="dk1"/>
                </a:solidFill>
                <a:latin typeface="Courier New"/>
                <a:ea typeface="Courier New"/>
                <a:cs typeface="Courier New"/>
                <a:sym typeface="Courier New"/>
              </a:rPr>
              <a:t>What Day 8 adds to my Project</a:t>
            </a:r>
            <a:r>
              <a:rPr b="1" lang="ru" sz="1700" u="sng">
                <a:solidFill>
                  <a:schemeClr val="dk1"/>
                </a:solidFill>
                <a:latin typeface="Courier New"/>
                <a:ea typeface="Courier New"/>
                <a:cs typeface="Courier New"/>
                <a:sym typeface="Courier New"/>
              </a:rPr>
              <a:t>:</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Which stocks drive portfolio volatility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Which assets are risk concentration points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How diversification actually affects risk</a:t>
            </a:r>
            <a:endParaRPr sz="1200">
              <a:latin typeface="Courier New"/>
              <a:ea typeface="Courier New"/>
              <a:cs typeface="Courier New"/>
              <a:sym typeface="Courier New"/>
            </a:endParaRPr>
          </a:p>
          <a:p>
            <a:pPr indent="0" lvl="0" marL="0" rtl="0" algn="l">
              <a:spcBef>
                <a:spcPts val="0"/>
              </a:spcBef>
              <a:spcAft>
                <a:spcPts val="0"/>
              </a:spcAft>
              <a:buNone/>
            </a:pPr>
            <a:r>
              <a:t/>
            </a:r>
            <a:endParaRPr b="1" sz="1200" u="sng">
              <a:latin typeface="Courier New"/>
              <a:ea typeface="Courier New"/>
              <a:cs typeface="Courier New"/>
              <a:sym typeface="Courier New"/>
            </a:endParaRPr>
          </a:p>
        </p:txBody>
      </p:sp>
      <p:pic>
        <p:nvPicPr>
          <p:cNvPr id="213" name="Google Shape;213;p30" title="Screenshot 2026-03-04 104447.png"/>
          <p:cNvPicPr preferRelativeResize="0"/>
          <p:nvPr/>
        </p:nvPicPr>
        <p:blipFill rotWithShape="1">
          <a:blip r:embed="rId4">
            <a:alphaModFix/>
          </a:blip>
          <a:srcRect b="-2312" l="0" r="0" t="0"/>
          <a:stretch/>
        </p:blipFill>
        <p:spPr>
          <a:xfrm>
            <a:off x="4063850" y="4658900"/>
            <a:ext cx="5620149" cy="3008151"/>
          </a:xfrm>
          <a:prstGeom prst="rect">
            <a:avLst/>
          </a:prstGeom>
          <a:noFill/>
          <a:ln>
            <a:noFill/>
          </a:ln>
        </p:spPr>
      </p:pic>
      <p:sp>
        <p:nvSpPr>
          <p:cNvPr id="214" name="Google Shape;214;p30"/>
          <p:cNvSpPr txBox="1"/>
          <p:nvPr/>
        </p:nvSpPr>
        <p:spPr>
          <a:xfrm>
            <a:off x="5033875" y="3906125"/>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Risk Contribution per Asset</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18" name="Shape 218"/>
        <p:cNvGrpSpPr/>
        <p:nvPr/>
      </p:nvGrpSpPr>
      <p:grpSpPr>
        <a:xfrm>
          <a:off x="0" y="0"/>
          <a:ext cx="0" cy="0"/>
          <a:chOff x="0" y="0"/>
          <a:chExt cx="0" cy="0"/>
        </a:xfrm>
      </p:grpSpPr>
      <p:pic>
        <p:nvPicPr>
          <p:cNvPr id="219" name="Google Shape;219;p31" title="Screenshot 2026-03-04 092136.png"/>
          <p:cNvPicPr preferRelativeResize="0"/>
          <p:nvPr/>
        </p:nvPicPr>
        <p:blipFill rotWithShape="1">
          <a:blip r:embed="rId3">
            <a:alphaModFix/>
          </a:blip>
          <a:srcRect b="0" l="5437" r="5428" t="0"/>
          <a:stretch/>
        </p:blipFill>
        <p:spPr>
          <a:xfrm>
            <a:off x="360000" y="1220400"/>
            <a:ext cx="9324000" cy="1667100"/>
          </a:xfrm>
          <a:prstGeom prst="rect">
            <a:avLst/>
          </a:prstGeom>
          <a:noFill/>
          <a:ln>
            <a:noFill/>
          </a:ln>
        </p:spPr>
      </p:pic>
      <p:pic>
        <p:nvPicPr>
          <p:cNvPr id="220" name="Google Shape;220;p31" title="Screenshot 2026-03-04 092550.png"/>
          <p:cNvPicPr preferRelativeResize="0"/>
          <p:nvPr/>
        </p:nvPicPr>
        <p:blipFill rotWithShape="1">
          <a:blip r:embed="rId4">
            <a:alphaModFix/>
          </a:blip>
          <a:srcRect b="0" l="0" r="0" t="0"/>
          <a:stretch/>
        </p:blipFill>
        <p:spPr>
          <a:xfrm>
            <a:off x="2438975" y="3204825"/>
            <a:ext cx="7245025" cy="4211175"/>
          </a:xfrm>
          <a:prstGeom prst="rect">
            <a:avLst/>
          </a:prstGeom>
          <a:noFill/>
          <a:ln>
            <a:noFill/>
          </a:ln>
        </p:spPr>
      </p:pic>
      <p:sp>
        <p:nvSpPr>
          <p:cNvPr id="221" name="Google Shape;221;p31"/>
          <p:cNvSpPr txBox="1"/>
          <p:nvPr/>
        </p:nvSpPr>
        <p:spPr>
          <a:xfrm>
            <a:off x="360000" y="112200"/>
            <a:ext cx="8412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a:latin typeface="Courier New"/>
                <a:ea typeface="Courier New"/>
                <a:cs typeface="Courier New"/>
                <a:sym typeface="Courier New"/>
              </a:rPr>
              <a:t>I validated 1-day 95%/99% VaR forecasts by backtesting against realized portfolio returns, quantifying exceptions, running Kupiec coverage tests, and summarizing model health using a Basel-style traffic light framework.</a:t>
            </a:r>
            <a:endParaRPr b="1" sz="12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200">
                <a:latin typeface="Courier New"/>
                <a:ea typeface="Courier New"/>
                <a:cs typeface="Courier New"/>
                <a:sym typeface="Courier New"/>
              </a:rPr>
              <a:t>Deliverable Below ready for Export ***</a:t>
            </a:r>
            <a:endParaRPr b="1" sz="1200">
              <a:latin typeface="Courier New"/>
              <a:ea typeface="Courier New"/>
              <a:cs typeface="Courier New"/>
              <a:sym typeface="Courier New"/>
            </a:endParaRPr>
          </a:p>
        </p:txBody>
      </p:sp>
      <p:sp>
        <p:nvSpPr>
          <p:cNvPr id="222" name="Google Shape;222;p31"/>
          <p:cNvSpPr txBox="1"/>
          <p:nvPr/>
        </p:nvSpPr>
        <p:spPr>
          <a:xfrm>
            <a:off x="360000" y="3906600"/>
            <a:ext cx="24648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a:latin typeface="Courier New"/>
                <a:ea typeface="Courier New"/>
                <a:cs typeface="Courier New"/>
                <a:sym typeface="Courier New"/>
              </a:rPr>
              <a:t>Reality check:</a:t>
            </a:r>
            <a:br>
              <a:rPr b="1" lang="ru" sz="1200">
                <a:latin typeface="Courier New"/>
                <a:ea typeface="Courier New"/>
                <a:cs typeface="Courier New"/>
                <a:sym typeface="Courier New"/>
              </a:rPr>
            </a:br>
            <a:r>
              <a:rPr b="1" lang="ru" sz="1200">
                <a:latin typeface="Courier New"/>
                <a:ea typeface="Courier New"/>
                <a:cs typeface="Courier New"/>
                <a:sym typeface="Courier New"/>
              </a:rPr>
              <a:t>Do we have a healthy model?</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solidFill>
                  <a:schemeClr val="dk1"/>
                </a:solidFill>
                <a:latin typeface="Courier New"/>
                <a:ea typeface="Courier New"/>
                <a:cs typeface="Courier New"/>
                <a:sym typeface="Courier New"/>
              </a:rPr>
              <a:t>| Value | Meaning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~0    | good</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&gt;0.3  | clustering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ru" sz="1200">
                <a:solidFill>
                  <a:schemeClr val="dk1"/>
                </a:solidFill>
                <a:latin typeface="Courier New"/>
                <a:ea typeface="Courier New"/>
                <a:cs typeface="Courier New"/>
                <a:sym typeface="Courier New"/>
              </a:rPr>
              <a:t>| &lt;0    | random    </a:t>
            </a:r>
            <a:r>
              <a:rPr b="1" lang="ru" sz="1200">
                <a:latin typeface="Courier New"/>
                <a:ea typeface="Courier New"/>
                <a:cs typeface="Courier New"/>
                <a:sym typeface="Courier New"/>
              </a:rPr>
              <a:t> </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Our Number: -.06        </a:t>
            </a:r>
            <a:endParaRPr b="1" sz="1200">
              <a:latin typeface="Courier New"/>
              <a:ea typeface="Courier New"/>
              <a:cs typeface="Courier New"/>
              <a:sym typeface="Courier New"/>
            </a:endParaRPr>
          </a:p>
          <a:p>
            <a:pPr indent="0" lvl="0" marL="0" rtl="0" algn="l">
              <a:spcBef>
                <a:spcPts val="0"/>
              </a:spcBef>
              <a:spcAft>
                <a:spcPts val="0"/>
              </a:spcAft>
              <a:buNone/>
            </a:pP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Healthy models show a wide spread of spacing.</a:t>
            </a:r>
            <a:br>
              <a:rPr b="1" lang="ru" sz="1200">
                <a:latin typeface="Courier New"/>
                <a:ea typeface="Courier New"/>
                <a:cs typeface="Courier New"/>
                <a:sym typeface="Courier New"/>
              </a:rPr>
            </a:br>
            <a:br>
              <a:rPr b="1" lang="ru" sz="1200">
                <a:latin typeface="Courier New"/>
                <a:ea typeface="Courier New"/>
                <a:cs typeface="Courier New"/>
                <a:sym typeface="Courier New"/>
              </a:rPr>
            </a:br>
            <a:r>
              <a:rPr b="1" lang="ru" sz="1200">
                <a:latin typeface="Courier New"/>
                <a:ea typeface="Courier New"/>
                <a:cs typeface="Courier New"/>
                <a:sym typeface="Courier New"/>
              </a:rPr>
              <a:t>Graph on right checks out!</a:t>
            </a:r>
            <a:endParaRPr sz="12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26" name="Shape 226"/>
        <p:cNvGrpSpPr/>
        <p:nvPr/>
      </p:nvGrpSpPr>
      <p:grpSpPr>
        <a:xfrm>
          <a:off x="0" y="0"/>
          <a:ext cx="0" cy="0"/>
          <a:chOff x="0" y="0"/>
          <a:chExt cx="0" cy="0"/>
        </a:xfrm>
      </p:grpSpPr>
      <p:pic>
        <p:nvPicPr>
          <p:cNvPr id="227" name="Google Shape;227;p32" title="Screenshot 2026-03-05 143135.png"/>
          <p:cNvPicPr preferRelativeResize="0"/>
          <p:nvPr/>
        </p:nvPicPr>
        <p:blipFill rotWithShape="1">
          <a:blip r:embed="rId3">
            <a:alphaModFix/>
          </a:blip>
          <a:srcRect b="0" l="0" r="0" t="0"/>
          <a:stretch/>
        </p:blipFill>
        <p:spPr>
          <a:xfrm>
            <a:off x="4622875" y="789500"/>
            <a:ext cx="4826475" cy="2526225"/>
          </a:xfrm>
          <a:prstGeom prst="rect">
            <a:avLst/>
          </a:prstGeom>
          <a:noFill/>
          <a:ln>
            <a:noFill/>
          </a:ln>
        </p:spPr>
      </p:pic>
      <p:pic>
        <p:nvPicPr>
          <p:cNvPr id="228" name="Google Shape;228;p32" title="Screenshot 2026-03-05 143521.png"/>
          <p:cNvPicPr preferRelativeResize="0"/>
          <p:nvPr/>
        </p:nvPicPr>
        <p:blipFill rotWithShape="1">
          <a:blip r:embed="rId4">
            <a:alphaModFix/>
          </a:blip>
          <a:srcRect b="1340" l="0" r="0" t="-1340"/>
          <a:stretch/>
        </p:blipFill>
        <p:spPr>
          <a:xfrm>
            <a:off x="5170675" y="3530425"/>
            <a:ext cx="4513325" cy="4100375"/>
          </a:xfrm>
          <a:prstGeom prst="rect">
            <a:avLst/>
          </a:prstGeom>
          <a:noFill/>
          <a:ln>
            <a:noFill/>
          </a:ln>
        </p:spPr>
      </p:pic>
      <p:sp>
        <p:nvSpPr>
          <p:cNvPr id="229" name="Google Shape;229;p32"/>
          <p:cNvSpPr txBox="1"/>
          <p:nvPr/>
        </p:nvSpPr>
        <p:spPr>
          <a:xfrm>
            <a:off x="360000" y="0"/>
            <a:ext cx="35055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9 Objective</a:t>
            </a:r>
            <a:br>
              <a:rPr b="1" lang="ru" sz="2600" u="sng">
                <a:latin typeface="Courier New"/>
                <a:ea typeface="Courier New"/>
                <a:cs typeface="Courier New"/>
                <a:sym typeface="Courier New"/>
              </a:rPr>
            </a:br>
            <a:r>
              <a:rPr lang="ru" sz="1800">
                <a:latin typeface="Courier New"/>
                <a:ea typeface="Courier New"/>
                <a:cs typeface="Courier New"/>
                <a:sym typeface="Courier New"/>
              </a:rPr>
              <a:t>Topic: Diversification analysis</a:t>
            </a:r>
            <a:endParaRPr sz="1800">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Measure how diversified my portfolio actually is using:</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Diversification Ratio</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Average correlation between assets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Comparison: diversified portfolio vs equal-weighted risk</a:t>
            </a:r>
            <a:endParaRPr sz="1200">
              <a:latin typeface="Courier New"/>
              <a:ea typeface="Courier New"/>
              <a:cs typeface="Courier New"/>
              <a:sym typeface="Courier New"/>
            </a:endParaRPr>
          </a:p>
        </p:txBody>
      </p:sp>
      <p:sp>
        <p:nvSpPr>
          <p:cNvPr id="230" name="Google Shape;230;p32"/>
          <p:cNvSpPr txBox="1"/>
          <p:nvPr/>
        </p:nvSpPr>
        <p:spPr>
          <a:xfrm>
            <a:off x="277400" y="4215325"/>
            <a:ext cx="45132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Today we will answer the question:</a:t>
            </a:r>
            <a:endParaRPr b="1" sz="12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Is this portfolio truly diversified, or are assets moving together?</a:t>
            </a:r>
            <a:br>
              <a:rPr lang="ru" sz="1200">
                <a:latin typeface="Courier New"/>
                <a:ea typeface="Courier New"/>
                <a:cs typeface="Courier New"/>
                <a:sym typeface="Courier New"/>
              </a:rPr>
            </a:br>
            <a:br>
              <a:rPr lang="ru" sz="1200">
                <a:latin typeface="Courier New"/>
                <a:ea typeface="Courier New"/>
                <a:cs typeface="Courier New"/>
                <a:sym typeface="Courier New"/>
              </a:rPr>
            </a:br>
            <a:br>
              <a:rPr lang="ru" sz="1200">
                <a:latin typeface="Courier New"/>
                <a:ea typeface="Courier New"/>
                <a:cs typeface="Courier New"/>
                <a:sym typeface="Courier New"/>
              </a:rPr>
            </a:b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u="sng">
                <a:latin typeface="Courier New"/>
                <a:ea typeface="Courier New"/>
                <a:cs typeface="Courier New"/>
                <a:sym typeface="Courier New"/>
              </a:rPr>
              <a:t>What I did: </a:t>
            </a:r>
            <a:br>
              <a:rPr lang="ru" sz="1200">
                <a:latin typeface="Courier New"/>
                <a:ea typeface="Courier New"/>
                <a:cs typeface="Courier New"/>
                <a:sym typeface="Courier New"/>
              </a:rPr>
            </a:br>
            <a:r>
              <a:rPr lang="ru" sz="1200">
                <a:latin typeface="Courier New"/>
                <a:ea typeface="Courier New"/>
                <a:cs typeface="Courier New"/>
                <a:sym typeface="Courier New"/>
              </a:rPr>
              <a:t>I quantified the diversification benefits of the portfolio by comparing weighted asset volatility to total portfolio volatility, calculating the diversification ratio, and analyzing the correlation structure across assets.</a:t>
            </a:r>
            <a:endParaRPr sz="1200">
              <a:latin typeface="Courier New"/>
              <a:ea typeface="Courier New"/>
              <a:cs typeface="Courier New"/>
              <a:sym typeface="Courier New"/>
            </a:endParaRPr>
          </a:p>
        </p:txBody>
      </p:sp>
      <p:sp>
        <p:nvSpPr>
          <p:cNvPr id="231" name="Google Shape;231;p32"/>
          <p:cNvSpPr txBox="1"/>
          <p:nvPr/>
        </p:nvSpPr>
        <p:spPr>
          <a:xfrm>
            <a:off x="5590563" y="145200"/>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Correlation Matrix</a:t>
            </a:r>
            <a:endParaRPr sz="1800">
              <a:solidFill>
                <a:schemeClr val="dk2"/>
              </a:solidFill>
            </a:endParaRPr>
          </a:p>
        </p:txBody>
      </p:sp>
      <p:sp>
        <p:nvSpPr>
          <p:cNvPr id="232" name="Google Shape;232;p32"/>
          <p:cNvSpPr txBox="1"/>
          <p:nvPr/>
        </p:nvSpPr>
        <p:spPr>
          <a:xfrm>
            <a:off x="6279600" y="3315725"/>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Correlation Structure Visualized</a:t>
            </a: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6" name="Shape 236"/>
        <p:cNvGrpSpPr/>
        <p:nvPr/>
      </p:nvGrpSpPr>
      <p:grpSpPr>
        <a:xfrm>
          <a:off x="0" y="0"/>
          <a:ext cx="0" cy="0"/>
          <a:chOff x="0" y="0"/>
          <a:chExt cx="0" cy="0"/>
        </a:xfrm>
      </p:grpSpPr>
      <p:pic>
        <p:nvPicPr>
          <p:cNvPr id="237" name="Google Shape;237;p33" title="Screenshot 2026-03-05 145143.png"/>
          <p:cNvPicPr preferRelativeResize="0"/>
          <p:nvPr/>
        </p:nvPicPr>
        <p:blipFill rotWithShape="1">
          <a:blip r:embed="rId3">
            <a:alphaModFix/>
          </a:blip>
          <a:srcRect b="0" l="0" r="0" t="0"/>
          <a:stretch/>
        </p:blipFill>
        <p:spPr>
          <a:xfrm>
            <a:off x="5006275" y="822550"/>
            <a:ext cx="4372325" cy="2526225"/>
          </a:xfrm>
          <a:prstGeom prst="rect">
            <a:avLst/>
          </a:prstGeom>
          <a:noFill/>
          <a:ln>
            <a:noFill/>
          </a:ln>
        </p:spPr>
      </p:pic>
      <p:pic>
        <p:nvPicPr>
          <p:cNvPr id="238" name="Google Shape;238;p33" title="Screenshot 2026-03-05 145343.png"/>
          <p:cNvPicPr preferRelativeResize="0"/>
          <p:nvPr/>
        </p:nvPicPr>
        <p:blipFill rotWithShape="1">
          <a:blip r:embed="rId4">
            <a:alphaModFix/>
          </a:blip>
          <a:srcRect b="0" l="2272" r="2272" t="0"/>
          <a:stretch/>
        </p:blipFill>
        <p:spPr>
          <a:xfrm>
            <a:off x="5170675" y="3869400"/>
            <a:ext cx="4513325" cy="3008149"/>
          </a:xfrm>
          <a:prstGeom prst="rect">
            <a:avLst/>
          </a:prstGeom>
          <a:noFill/>
          <a:ln>
            <a:noFill/>
          </a:ln>
        </p:spPr>
      </p:pic>
      <p:sp>
        <p:nvSpPr>
          <p:cNvPr id="239" name="Google Shape;239;p33"/>
          <p:cNvSpPr txBox="1"/>
          <p:nvPr/>
        </p:nvSpPr>
        <p:spPr>
          <a:xfrm>
            <a:off x="360000" y="0"/>
            <a:ext cx="35055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10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500">
                <a:latin typeface="Courier New"/>
                <a:ea typeface="Courier New"/>
                <a:cs typeface="Courier New"/>
                <a:sym typeface="Courier New"/>
              </a:rPr>
              <a:t>Portfolio Optimization (Efficient Frontier + Optimal Weights)</a:t>
            </a:r>
            <a:endParaRPr b="1" sz="1500">
              <a:latin typeface="Courier New"/>
              <a:ea typeface="Courier New"/>
              <a:cs typeface="Courier New"/>
              <a:sym typeface="Courier New"/>
            </a:endParaRPr>
          </a:p>
          <a:p>
            <a:pPr indent="0" lvl="0" marL="0" rtl="0" algn="l">
              <a:spcBef>
                <a:spcPts val="0"/>
              </a:spcBef>
              <a:spcAft>
                <a:spcPts val="0"/>
              </a:spcAft>
              <a:buNone/>
            </a:pPr>
            <a:r>
              <a:t/>
            </a:r>
            <a:endParaRPr b="1" sz="1500">
              <a:latin typeface="Courier New"/>
              <a:ea typeface="Courier New"/>
              <a:cs typeface="Courier New"/>
              <a:sym typeface="Courier New"/>
            </a:endParaRPr>
          </a:p>
          <a:p>
            <a:pPr indent="0" lvl="0" marL="0" rtl="0" algn="l">
              <a:spcBef>
                <a:spcPts val="0"/>
              </a:spcBef>
              <a:spcAft>
                <a:spcPts val="0"/>
              </a:spcAft>
              <a:buNone/>
            </a:pPr>
            <a:r>
              <a:rPr lang="ru" sz="1500">
                <a:latin typeface="Courier New"/>
                <a:ea typeface="Courier New"/>
                <a:cs typeface="Courier New"/>
                <a:sym typeface="Courier New"/>
              </a:rPr>
              <a:t>Use historical returns to build:</a:t>
            </a:r>
            <a:endParaRPr sz="1500">
              <a:latin typeface="Courier New"/>
              <a:ea typeface="Courier New"/>
              <a:cs typeface="Courier New"/>
              <a:sym typeface="Courier New"/>
            </a:endParaRPr>
          </a:p>
          <a:p>
            <a:pPr indent="0" lvl="0" marL="0" rtl="0" algn="l">
              <a:spcBef>
                <a:spcPts val="0"/>
              </a:spcBef>
              <a:spcAft>
                <a:spcPts val="0"/>
              </a:spcAft>
              <a:buNone/>
            </a:pPr>
            <a:r>
              <a:t/>
            </a:r>
            <a:endParaRPr sz="1500">
              <a:latin typeface="Courier New"/>
              <a:ea typeface="Courier New"/>
              <a:cs typeface="Courier New"/>
              <a:sym typeface="Courier New"/>
            </a:endParaRPr>
          </a:p>
          <a:p>
            <a:pPr indent="-323850" lvl="0" marL="457200" rtl="0" algn="l">
              <a:spcBef>
                <a:spcPts val="0"/>
              </a:spcBef>
              <a:spcAft>
                <a:spcPts val="0"/>
              </a:spcAft>
              <a:buSzPts val="1500"/>
              <a:buFont typeface="Courier New"/>
              <a:buChar char="-"/>
            </a:pPr>
            <a:r>
              <a:rPr lang="ru" sz="1500">
                <a:latin typeface="Courier New"/>
                <a:ea typeface="Courier New"/>
                <a:cs typeface="Courier New"/>
                <a:sym typeface="Courier New"/>
              </a:rPr>
              <a:t>an efficient frontier (risk vs return curve)</a:t>
            </a:r>
            <a:endParaRPr sz="1500">
              <a:latin typeface="Courier New"/>
              <a:ea typeface="Courier New"/>
              <a:cs typeface="Courier New"/>
              <a:sym typeface="Courier New"/>
            </a:endParaRPr>
          </a:p>
          <a:p>
            <a:pPr indent="0" lvl="0" marL="0" rtl="0" algn="l">
              <a:spcBef>
                <a:spcPts val="0"/>
              </a:spcBef>
              <a:spcAft>
                <a:spcPts val="0"/>
              </a:spcAft>
              <a:buNone/>
            </a:pPr>
            <a:r>
              <a:t/>
            </a:r>
            <a:endParaRPr sz="1500">
              <a:latin typeface="Courier New"/>
              <a:ea typeface="Courier New"/>
              <a:cs typeface="Courier New"/>
              <a:sym typeface="Courier New"/>
            </a:endParaRPr>
          </a:p>
          <a:p>
            <a:pPr indent="-323850" lvl="0" marL="457200" rtl="0" algn="l">
              <a:spcBef>
                <a:spcPts val="0"/>
              </a:spcBef>
              <a:spcAft>
                <a:spcPts val="0"/>
              </a:spcAft>
              <a:buSzPts val="1500"/>
              <a:buFont typeface="Courier New"/>
              <a:buChar char="-"/>
            </a:pPr>
            <a:r>
              <a:rPr lang="ru" sz="1500">
                <a:latin typeface="Courier New"/>
                <a:ea typeface="Courier New"/>
                <a:cs typeface="Courier New"/>
                <a:sym typeface="Courier New"/>
              </a:rPr>
              <a:t>the minimum-variance portfolio</a:t>
            </a:r>
            <a:endParaRPr sz="1500">
              <a:latin typeface="Courier New"/>
              <a:ea typeface="Courier New"/>
              <a:cs typeface="Courier New"/>
              <a:sym typeface="Courier New"/>
            </a:endParaRPr>
          </a:p>
          <a:p>
            <a:pPr indent="0" lvl="0" marL="0" rtl="0" algn="l">
              <a:spcBef>
                <a:spcPts val="0"/>
              </a:spcBef>
              <a:spcAft>
                <a:spcPts val="0"/>
              </a:spcAft>
              <a:buNone/>
            </a:pPr>
            <a:r>
              <a:t/>
            </a:r>
            <a:endParaRPr sz="1500">
              <a:latin typeface="Courier New"/>
              <a:ea typeface="Courier New"/>
              <a:cs typeface="Courier New"/>
              <a:sym typeface="Courier New"/>
            </a:endParaRPr>
          </a:p>
          <a:p>
            <a:pPr indent="-323850" lvl="0" marL="457200" rtl="0" algn="l">
              <a:spcBef>
                <a:spcPts val="0"/>
              </a:spcBef>
              <a:spcAft>
                <a:spcPts val="0"/>
              </a:spcAft>
              <a:buSzPts val="1500"/>
              <a:buFont typeface="Courier New"/>
              <a:buChar char="-"/>
            </a:pPr>
            <a:r>
              <a:rPr lang="ru" sz="1500">
                <a:latin typeface="Courier New"/>
                <a:ea typeface="Courier New"/>
                <a:cs typeface="Courier New"/>
                <a:sym typeface="Courier New"/>
              </a:rPr>
              <a:t>the max Sharpe (tangency) portfolio</a:t>
            </a:r>
            <a:endParaRPr sz="1500">
              <a:latin typeface="Courier New"/>
              <a:ea typeface="Courier New"/>
              <a:cs typeface="Courier New"/>
              <a:sym typeface="Courier New"/>
            </a:endParaRPr>
          </a:p>
        </p:txBody>
      </p:sp>
      <p:sp>
        <p:nvSpPr>
          <p:cNvPr id="240" name="Google Shape;240;p33"/>
          <p:cNvSpPr txBox="1"/>
          <p:nvPr/>
        </p:nvSpPr>
        <p:spPr>
          <a:xfrm>
            <a:off x="194800" y="4934300"/>
            <a:ext cx="4513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Explain term “</a:t>
            </a:r>
            <a:r>
              <a:rPr b="1" lang="ru" sz="1200" u="sng">
                <a:latin typeface="Courier New"/>
                <a:ea typeface="Courier New"/>
                <a:cs typeface="Courier New"/>
                <a:sym typeface="Courier New"/>
              </a:rPr>
              <a:t>Efficient</a:t>
            </a:r>
            <a:r>
              <a:rPr b="1" lang="ru" sz="1200" u="sng">
                <a:latin typeface="Courier New"/>
                <a:ea typeface="Courier New"/>
                <a:cs typeface="Courier New"/>
                <a:sym typeface="Courier New"/>
              </a:rPr>
              <a:t> Frontier” to Non-Technical Stakeholders:</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The </a:t>
            </a:r>
            <a:r>
              <a:rPr i="1" lang="ru" sz="1200">
                <a:latin typeface="Courier New"/>
                <a:ea typeface="Courier New"/>
                <a:cs typeface="Courier New"/>
                <a:sym typeface="Courier New"/>
              </a:rPr>
              <a:t>efficient frontier</a:t>
            </a:r>
            <a:r>
              <a:rPr lang="ru" sz="1200">
                <a:latin typeface="Courier New"/>
                <a:ea typeface="Courier New"/>
                <a:cs typeface="Courier New"/>
                <a:sym typeface="Courier New"/>
              </a:rPr>
              <a:t> shows the best possible investment portfolios you can build for different levels of risk.</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Imagine you’re choosing between many possible portfolios. Some give low return with high risk, which is obviously bad. Others give higher return for the same risk, which is better.</a:t>
            </a:r>
            <a:endParaRPr sz="1200">
              <a:latin typeface="Courier New"/>
              <a:ea typeface="Courier New"/>
              <a:cs typeface="Courier New"/>
              <a:sym typeface="Courier New"/>
            </a:endParaRPr>
          </a:p>
        </p:txBody>
      </p:sp>
      <p:sp>
        <p:nvSpPr>
          <p:cNvPr id="241" name="Google Shape;241;p33"/>
          <p:cNvSpPr txBox="1"/>
          <p:nvPr/>
        </p:nvSpPr>
        <p:spPr>
          <a:xfrm>
            <a:off x="4875088" y="145200"/>
            <a:ext cx="51045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Found Minimum Variance and Maximum Sharpe</a:t>
            </a:r>
            <a:endParaRPr sz="1800">
              <a:solidFill>
                <a:schemeClr val="dk2"/>
              </a:solidFill>
            </a:endParaRPr>
          </a:p>
        </p:txBody>
      </p:sp>
      <p:sp>
        <p:nvSpPr>
          <p:cNvPr id="242" name="Google Shape;242;p33"/>
          <p:cNvSpPr txBox="1"/>
          <p:nvPr/>
        </p:nvSpPr>
        <p:spPr>
          <a:xfrm>
            <a:off x="5769250" y="70907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Efficient Frontier</a:t>
            </a:r>
            <a:endParaRPr sz="1800">
              <a:solidFill>
                <a:schemeClr val="dk2"/>
              </a:solidFill>
            </a:endParaRPr>
          </a:p>
        </p:txBody>
      </p:sp>
      <p:sp>
        <p:nvSpPr>
          <p:cNvPr id="243" name="Google Shape;243;p33"/>
          <p:cNvSpPr/>
          <p:nvPr/>
        </p:nvSpPr>
        <p:spPr>
          <a:xfrm>
            <a:off x="7433850" y="4818975"/>
            <a:ext cx="2676300" cy="18171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6000"/>
              </a:srgbClr>
            </a:outerShdw>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ru" sz="1100">
                <a:solidFill>
                  <a:schemeClr val="dk1"/>
                </a:solidFill>
              </a:rPr>
              <a:t>Minimum variance portfolio</a:t>
            </a:r>
            <a:r>
              <a:rPr lang="ru" sz="1100">
                <a:solidFill>
                  <a:schemeClr val="dk1"/>
                </a:solidFill>
              </a:rPr>
              <a:t> → lowest risk possible</a:t>
            </a:r>
            <a:br>
              <a:rPr lang="ru" sz="1100">
                <a:solidFill>
                  <a:schemeClr val="dk1"/>
                </a:solidFill>
              </a:rPr>
            </a:br>
            <a:endParaRPr sz="1100">
              <a:solidFill>
                <a:schemeClr val="dk1"/>
              </a:solidFill>
            </a:endParaRPr>
          </a:p>
          <a:p>
            <a:pPr indent="0" lvl="0" marL="0" rtl="0" algn="ctr">
              <a:spcBef>
                <a:spcPts val="0"/>
              </a:spcBef>
              <a:spcAft>
                <a:spcPts val="0"/>
              </a:spcAft>
              <a:buClr>
                <a:schemeClr val="dk1"/>
              </a:buClr>
              <a:buSzPts val="1100"/>
              <a:buFont typeface="Arial"/>
              <a:buNone/>
            </a:pPr>
            <a:r>
              <a:rPr b="1" lang="ru" sz="1100">
                <a:solidFill>
                  <a:schemeClr val="dk1"/>
                </a:solidFill>
              </a:rPr>
              <a:t>Maximum Sharpe portfolio</a:t>
            </a:r>
            <a:r>
              <a:rPr lang="ru" sz="1100">
                <a:solidFill>
                  <a:schemeClr val="dk1"/>
                </a:solidFill>
              </a:rPr>
              <a:t> → best risk-adjusted return</a:t>
            </a:r>
            <a:endParaRPr sz="1100">
              <a:solidFill>
                <a:schemeClr val="dk1"/>
              </a:solidFill>
            </a:endParaRPr>
          </a:p>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7" name="Shape 247"/>
        <p:cNvGrpSpPr/>
        <p:nvPr/>
      </p:nvGrpSpPr>
      <p:grpSpPr>
        <a:xfrm>
          <a:off x="0" y="0"/>
          <a:ext cx="0" cy="0"/>
          <a:chOff x="0" y="0"/>
          <a:chExt cx="0" cy="0"/>
        </a:xfrm>
      </p:grpSpPr>
      <p:pic>
        <p:nvPicPr>
          <p:cNvPr id="248" name="Google Shape;248;p34" title="Screenshot 2026-03-05 150215.png"/>
          <p:cNvPicPr preferRelativeResize="0"/>
          <p:nvPr/>
        </p:nvPicPr>
        <p:blipFill rotWithShape="1">
          <a:blip r:embed="rId3">
            <a:alphaModFix/>
          </a:blip>
          <a:srcRect b="0" l="0" r="0" t="0"/>
          <a:stretch/>
        </p:blipFill>
        <p:spPr>
          <a:xfrm>
            <a:off x="626038" y="2484450"/>
            <a:ext cx="8791925" cy="5106750"/>
          </a:xfrm>
          <a:prstGeom prst="rect">
            <a:avLst/>
          </a:prstGeom>
          <a:noFill/>
          <a:ln>
            <a:noFill/>
          </a:ln>
        </p:spPr>
      </p:pic>
      <p:sp>
        <p:nvSpPr>
          <p:cNvPr id="249" name="Google Shape;249;p34"/>
          <p:cNvSpPr txBox="1"/>
          <p:nvPr/>
        </p:nvSpPr>
        <p:spPr>
          <a:xfrm>
            <a:off x="1501500" y="235000"/>
            <a:ext cx="7041000" cy="1954800"/>
          </a:xfrm>
          <a:prstGeom prst="rect">
            <a:avLst/>
          </a:prstGeom>
          <a:noFill/>
          <a:ln>
            <a:noFill/>
          </a:ln>
        </p:spPr>
        <p:txBody>
          <a:bodyPr anchorCtr="0" anchor="t" bIns="91425" lIns="91425" spcFirstLastPara="1" rIns="91425" wrap="square" tIns="91425">
            <a:spAutoFit/>
          </a:bodyPr>
          <a:lstStyle/>
          <a:p>
            <a:pPr indent="0" lvl="0" marL="457200" rtl="0" algn="ctr">
              <a:lnSpc>
                <a:spcPct val="100000"/>
              </a:lnSpc>
              <a:spcBef>
                <a:spcPts val="0"/>
              </a:spcBef>
              <a:spcAft>
                <a:spcPts val="0"/>
              </a:spcAft>
              <a:buNone/>
            </a:pPr>
            <a:r>
              <a:rPr b="1" lang="ru" sz="1900" u="sng">
                <a:latin typeface="Courier New"/>
                <a:ea typeface="Courier New"/>
                <a:cs typeface="Courier New"/>
                <a:sym typeface="Courier New"/>
              </a:rPr>
              <a:t>Now </a:t>
            </a:r>
            <a:r>
              <a:rPr b="1" lang="ru" sz="1900" u="sng">
                <a:latin typeface="Courier New"/>
                <a:ea typeface="Courier New"/>
                <a:cs typeface="Courier New"/>
                <a:sym typeface="Courier New"/>
              </a:rPr>
              <a:t>Let's</a:t>
            </a:r>
            <a:r>
              <a:rPr b="1" lang="ru" sz="1900" u="sng">
                <a:latin typeface="Courier New"/>
                <a:ea typeface="Courier New"/>
                <a:cs typeface="Courier New"/>
                <a:sym typeface="Courier New"/>
              </a:rPr>
              <a:t> compare to Our current Portfolio</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I can show stakeholders:</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whether the current portfolio is efficient</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how much improvement optimization provides</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what allocation would maximize risk-adjusted return</a:t>
            </a:r>
            <a:endParaRPr sz="12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3" name="Shape 253"/>
        <p:cNvGrpSpPr/>
        <p:nvPr/>
      </p:nvGrpSpPr>
      <p:grpSpPr>
        <a:xfrm>
          <a:off x="0" y="0"/>
          <a:ext cx="0" cy="0"/>
          <a:chOff x="0" y="0"/>
          <a:chExt cx="0" cy="0"/>
        </a:xfrm>
      </p:grpSpPr>
      <p:pic>
        <p:nvPicPr>
          <p:cNvPr id="254" name="Google Shape;254;p35" title="Screenshot 2026-03-05 150830.png"/>
          <p:cNvPicPr preferRelativeResize="0"/>
          <p:nvPr/>
        </p:nvPicPr>
        <p:blipFill rotWithShape="1">
          <a:blip r:embed="rId3">
            <a:alphaModFix/>
          </a:blip>
          <a:srcRect b="0" l="0" r="0" t="0"/>
          <a:stretch/>
        </p:blipFill>
        <p:spPr>
          <a:xfrm>
            <a:off x="495600" y="3220361"/>
            <a:ext cx="9085900" cy="4329164"/>
          </a:xfrm>
          <a:prstGeom prst="rect">
            <a:avLst/>
          </a:prstGeom>
          <a:no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pic>
      <p:sp>
        <p:nvSpPr>
          <p:cNvPr id="255" name="Google Shape;255;p35"/>
          <p:cNvSpPr txBox="1"/>
          <p:nvPr/>
        </p:nvSpPr>
        <p:spPr>
          <a:xfrm>
            <a:off x="360000" y="0"/>
            <a:ext cx="9085800" cy="324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11 Objective - Prepare Dashboard Dataset (for Power BI &amp; Tableau)</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sz="1500">
                <a:latin typeface="Courier New"/>
                <a:ea typeface="Courier New"/>
                <a:cs typeface="Courier New"/>
                <a:sym typeface="Courier New"/>
              </a:rPr>
              <a:t>Goal:</a:t>
            </a:r>
            <a:r>
              <a:rPr lang="ru" sz="1200">
                <a:latin typeface="Courier New"/>
                <a:ea typeface="Courier New"/>
                <a:cs typeface="Courier New"/>
                <a:sym typeface="Courier New"/>
              </a:rPr>
              <a:t> export clean tables your BI tools can load directly.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Steps: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Build portfolio daily returns (time series)</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Export asset return dataset</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Create risk summary table</a:t>
            </a:r>
            <a:endParaRPr sz="1200">
              <a:latin typeface="Courier New"/>
              <a:ea typeface="Courier New"/>
              <a:cs typeface="Courier New"/>
              <a:sym typeface="Courier New"/>
            </a:endParaRPr>
          </a:p>
          <a:p>
            <a:pPr indent="-304800" lvl="0" marL="457200" rtl="0" algn="l">
              <a:spcBef>
                <a:spcPts val="0"/>
              </a:spcBef>
              <a:spcAft>
                <a:spcPts val="0"/>
              </a:spcAft>
              <a:buSzPts val="1200"/>
              <a:buFont typeface="Courier New"/>
              <a:buAutoNum type="arabicPeriod"/>
            </a:pPr>
            <a:r>
              <a:rPr lang="ru" sz="1200">
                <a:latin typeface="Courier New"/>
                <a:ea typeface="Courier New"/>
                <a:cs typeface="Courier New"/>
                <a:sym typeface="Courier New"/>
              </a:rPr>
              <a:t>Save a quick chart for reference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Now I have clean datasets ready for BI dashboards!</a:t>
            </a:r>
            <a:endParaRPr sz="12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59" name="Shape 259"/>
        <p:cNvGrpSpPr/>
        <p:nvPr/>
      </p:nvGrpSpPr>
      <p:grpSpPr>
        <a:xfrm>
          <a:off x="0" y="0"/>
          <a:ext cx="0" cy="0"/>
          <a:chOff x="0" y="0"/>
          <a:chExt cx="0" cy="0"/>
        </a:xfrm>
      </p:grpSpPr>
      <p:pic>
        <p:nvPicPr>
          <p:cNvPr id="260" name="Google Shape;260;p36" title="spongebob-squarepants-field-guide.gif"/>
          <p:cNvPicPr preferRelativeResize="0"/>
          <p:nvPr/>
        </p:nvPicPr>
        <p:blipFill rotWithShape="1">
          <a:blip r:embed="rId3">
            <a:alphaModFix/>
          </a:blip>
          <a:srcRect b="0" l="13441" r="13433" t="0"/>
          <a:stretch/>
        </p:blipFill>
        <p:spPr>
          <a:xfrm>
            <a:off x="574750" y="1272025"/>
            <a:ext cx="4794174" cy="4794174"/>
          </a:xfrm>
          <a:prstGeom prst="rect">
            <a:avLst/>
          </a:prstGeom>
          <a:noFill/>
          <a:ln>
            <a:noFill/>
          </a:ln>
          <a:effectLst>
            <a:outerShdw blurRad="1085850" rotWithShape="0" algn="bl" dir="11880000" dist="514350">
              <a:srgbClr val="000000">
                <a:alpha val="79000"/>
              </a:srgbClr>
            </a:outerShdw>
            <a:reflection blurRad="0" dir="5400000" dist="57150" endA="0" endPos="64000" fadeDir="5400012" kx="0" rotWithShape="0" algn="bl" stPos="0" sy="-100000" ky="0"/>
          </a:effectLst>
        </p:spPr>
      </p:pic>
      <p:sp>
        <p:nvSpPr>
          <p:cNvPr id="261" name="Google Shape;261;p36"/>
          <p:cNvSpPr txBox="1"/>
          <p:nvPr/>
        </p:nvSpPr>
        <p:spPr>
          <a:xfrm>
            <a:off x="6158425" y="101550"/>
            <a:ext cx="3621300" cy="68343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None/>
            </a:pPr>
            <a:r>
              <a:rPr b="1" lang="ru" sz="1200" u="sng">
                <a:latin typeface="Courier New"/>
                <a:ea typeface="Courier New"/>
                <a:cs typeface="Courier New"/>
                <a:sym typeface="Courier New"/>
              </a:rPr>
              <a:t>What I Learned Today (Transferable Skills)</a:t>
            </a:r>
            <a:endParaRPr b="1" sz="1200" u="sng">
              <a:latin typeface="Courier New"/>
              <a:ea typeface="Courier New"/>
              <a:cs typeface="Courier New"/>
              <a:sym typeface="Courier New"/>
            </a:endParaRPr>
          </a:p>
          <a:p>
            <a:pPr indent="0" lvl="0" marL="0" rtl="0" algn="r">
              <a:lnSpc>
                <a:spcPct val="100000"/>
              </a:lnSpc>
              <a:spcBef>
                <a:spcPts val="0"/>
              </a:spcBef>
              <a:spcAft>
                <a:spcPts val="0"/>
              </a:spcAft>
              <a:buNone/>
            </a:pPr>
            <a:r>
              <a:t/>
            </a:r>
            <a:endParaRPr b="1"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1. Data Pipeline Preparation</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ru" sz="1200">
                <a:latin typeface="Courier New"/>
                <a:ea typeface="Courier New"/>
                <a:cs typeface="Courier New"/>
                <a:sym typeface="Courier New"/>
              </a:rPr>
              <a:t>Built structured datasets from SQL and Python and exported them as clean CSV files for downstream tools. This aligns with fintech roles that require </a:t>
            </a:r>
            <a:r>
              <a:rPr lang="ru" sz="1200" u="sng">
                <a:latin typeface="Courier New"/>
                <a:ea typeface="Courier New"/>
                <a:cs typeface="Courier New"/>
                <a:sym typeface="Courier New"/>
              </a:rPr>
              <a:t>preparing financial and operational datasets for reporting systems, dashboards, and decision-making tools.</a:t>
            </a:r>
            <a:endParaRPr sz="1200" u="sng">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2. Financial Risk Metric Reporting</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ru" sz="1200">
                <a:latin typeface="Courier New"/>
                <a:ea typeface="Courier New"/>
                <a:cs typeface="Courier New"/>
                <a:sym typeface="Courier New"/>
              </a:rPr>
              <a:t>Compiled key portfolio indicators such as r</a:t>
            </a:r>
            <a:r>
              <a:rPr lang="ru" sz="1200" u="sng">
                <a:latin typeface="Courier New"/>
                <a:ea typeface="Courier New"/>
                <a:cs typeface="Courier New"/>
                <a:sym typeface="Courier New"/>
              </a:rPr>
              <a:t>eturn, volatility, Sharpe ratio, and diversification metrics </a:t>
            </a:r>
            <a:r>
              <a:rPr lang="ru" sz="1200">
                <a:latin typeface="Courier New"/>
                <a:ea typeface="Courier New"/>
                <a:cs typeface="Courier New"/>
                <a:sym typeface="Courier New"/>
              </a:rPr>
              <a:t>into a summary dataset. This relates to fintech analyst tasks involving </a:t>
            </a:r>
            <a:r>
              <a:rPr lang="ru" sz="1200" u="sng">
                <a:latin typeface="Courier New"/>
                <a:ea typeface="Courier New"/>
                <a:cs typeface="Courier New"/>
                <a:sym typeface="Courier New"/>
              </a:rPr>
              <a:t>monitoring risk KPIs and translating quantitative analysis into metrics that support portfolio or product performance evaluation.</a:t>
            </a:r>
            <a:endParaRPr sz="1200" u="sng">
              <a:latin typeface="Courier New"/>
              <a:ea typeface="Courier New"/>
              <a:cs typeface="Courier New"/>
              <a:sym typeface="Courier New"/>
            </a:endParaRPr>
          </a:p>
          <a:p>
            <a:pPr indent="0" lvl="0" marL="457200" rtl="0" algn="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200">
                <a:latin typeface="Courier New"/>
                <a:ea typeface="Courier New"/>
                <a:cs typeface="Courier New"/>
                <a:sym typeface="Courier New"/>
              </a:rPr>
              <a:t>3. Data Visualization Preparation</a:t>
            </a:r>
            <a:endParaRPr sz="1200">
              <a:latin typeface="Courier New"/>
              <a:ea typeface="Courier New"/>
              <a:cs typeface="Courier New"/>
              <a:sym typeface="Courier New"/>
            </a:endParaRPr>
          </a:p>
          <a:p>
            <a:pPr indent="0" lvl="0" marL="0" rtl="0" algn="l">
              <a:lnSpc>
                <a:spcPct val="100000"/>
              </a:lnSpc>
              <a:spcBef>
                <a:spcPts val="0"/>
              </a:spcBef>
              <a:spcAft>
                <a:spcPts val="0"/>
              </a:spcAft>
              <a:buNone/>
            </a:pPr>
            <a:r>
              <a:rPr lang="ru" sz="1200">
                <a:latin typeface="Courier New"/>
                <a:ea typeface="Courier New"/>
                <a:cs typeface="Courier New"/>
                <a:sym typeface="Courier New"/>
              </a:rPr>
              <a:t>Generated time-series portfolio performance outputs designed for integration with BI dashboards. This supports fintech responsibilities where analysts </a:t>
            </a:r>
            <a:r>
              <a:rPr lang="ru" sz="1200" u="sng">
                <a:latin typeface="Courier New"/>
                <a:ea typeface="Courier New"/>
                <a:cs typeface="Courier New"/>
                <a:sym typeface="Courier New"/>
              </a:rPr>
              <a:t>translate complex financial data into visual insights that stakeholders and management teams can quickly interpret for strategic decisions.</a:t>
            </a:r>
            <a:endParaRPr sz="1200" u="sng">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5" name="Shape 265"/>
        <p:cNvGrpSpPr/>
        <p:nvPr/>
      </p:nvGrpSpPr>
      <p:grpSpPr>
        <a:xfrm>
          <a:off x="0" y="0"/>
          <a:ext cx="0" cy="0"/>
          <a:chOff x="0" y="0"/>
          <a:chExt cx="0" cy="0"/>
        </a:xfrm>
      </p:grpSpPr>
      <p:pic>
        <p:nvPicPr>
          <p:cNvPr id="266" name="Google Shape;266;p37" title="Screenshot 2026-03-05 173347.png"/>
          <p:cNvPicPr preferRelativeResize="0"/>
          <p:nvPr/>
        </p:nvPicPr>
        <p:blipFill rotWithShape="1">
          <a:blip r:embed="rId3">
            <a:alphaModFix/>
          </a:blip>
          <a:srcRect b="0" l="0" r="17205" t="0"/>
          <a:stretch/>
        </p:blipFill>
        <p:spPr>
          <a:xfrm>
            <a:off x="5092825" y="429600"/>
            <a:ext cx="4769476" cy="6888650"/>
          </a:xfrm>
          <a:prstGeom prst="rect">
            <a:avLst/>
          </a:prstGeom>
          <a:noFill/>
          <a:ln>
            <a:noFill/>
          </a:ln>
        </p:spPr>
      </p:pic>
      <p:pic>
        <p:nvPicPr>
          <p:cNvPr id="267" name="Google Shape;267;p37" title="Screenshot 2026-03-05 170321.png"/>
          <p:cNvPicPr preferRelativeResize="0"/>
          <p:nvPr/>
        </p:nvPicPr>
        <p:blipFill rotWithShape="1">
          <a:blip r:embed="rId4">
            <a:alphaModFix/>
          </a:blip>
          <a:srcRect b="1933" l="0" r="0" t="1923"/>
          <a:stretch/>
        </p:blipFill>
        <p:spPr>
          <a:xfrm>
            <a:off x="1799520" y="3014476"/>
            <a:ext cx="3057305" cy="2037700"/>
          </a:xfrm>
          <a:prstGeom prst="rect">
            <a:avLst/>
          </a:prstGeom>
          <a:noFill/>
          <a:ln>
            <a:noFill/>
          </a:ln>
        </p:spPr>
      </p:pic>
      <p:sp>
        <p:nvSpPr>
          <p:cNvPr id="268" name="Google Shape;268;p37"/>
          <p:cNvSpPr txBox="1"/>
          <p:nvPr/>
        </p:nvSpPr>
        <p:spPr>
          <a:xfrm>
            <a:off x="360000" y="0"/>
            <a:ext cx="3505500" cy="246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12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b="1" lang="ru">
                <a:latin typeface="Courier New"/>
                <a:ea typeface="Courier New"/>
                <a:cs typeface="Courier New"/>
                <a:sym typeface="Courier New"/>
              </a:rPr>
              <a:t>Power BI Risk Dashboard</a:t>
            </a:r>
            <a:endParaRPr b="1">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 will b</a:t>
            </a:r>
            <a:r>
              <a:rPr lang="ru" sz="1200">
                <a:latin typeface="Courier New"/>
                <a:ea typeface="Courier New"/>
                <a:cs typeface="Courier New"/>
                <a:sym typeface="Courier New"/>
              </a:rPr>
              <a:t>uild an interactive risk dashboard in Power BI using the datasets exported from Python so stakeholders can visually monitor portfolio performance, risk metrics, and stress scenarios.</a:t>
            </a:r>
            <a:endParaRPr sz="1200">
              <a:latin typeface="Courier New"/>
              <a:ea typeface="Courier New"/>
              <a:cs typeface="Courier New"/>
              <a:sym typeface="Courier New"/>
            </a:endParaRPr>
          </a:p>
        </p:txBody>
      </p:sp>
      <p:sp>
        <p:nvSpPr>
          <p:cNvPr id="269" name="Google Shape;269;p37"/>
          <p:cNvSpPr txBox="1"/>
          <p:nvPr/>
        </p:nvSpPr>
        <p:spPr>
          <a:xfrm>
            <a:off x="0" y="3342900"/>
            <a:ext cx="45132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Deliverable:</a:t>
            </a:r>
            <a:endParaRPr b="1" sz="12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Risk Summary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Sharpe Ratio</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Annual Return</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Annual Volatility</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Diversification Ratio</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Portfolio Behavior</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Daily return time series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Asset Comparison</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Average daily return by asset</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Interactive Filter</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Year slicer</a:t>
            </a:r>
            <a:endParaRPr sz="1200">
              <a:latin typeface="Courier New"/>
              <a:ea typeface="Courier New"/>
              <a:cs typeface="Courier New"/>
              <a:sym typeface="Courier New"/>
            </a:endParaRPr>
          </a:p>
        </p:txBody>
      </p:sp>
      <p:sp>
        <p:nvSpPr>
          <p:cNvPr id="270" name="Google Shape;270;p37"/>
          <p:cNvSpPr txBox="1"/>
          <p:nvPr/>
        </p:nvSpPr>
        <p:spPr>
          <a:xfrm>
            <a:off x="1412725" y="2523788"/>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Configuring Dashboard</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pic>
        <p:nvPicPr>
          <p:cNvPr id="275" name="Google Shape;275;p38" title="Screenshot 2026-03-06 121624.png"/>
          <p:cNvPicPr preferRelativeResize="0"/>
          <p:nvPr/>
        </p:nvPicPr>
        <p:blipFill rotWithShape="1">
          <a:blip r:embed="rId3">
            <a:alphaModFix/>
          </a:blip>
          <a:srcRect b="0" l="3849" r="3840" t="0"/>
          <a:stretch/>
        </p:blipFill>
        <p:spPr>
          <a:xfrm>
            <a:off x="4178225" y="789500"/>
            <a:ext cx="2526225" cy="2526224"/>
          </a:xfrm>
          <a:prstGeom prst="rect">
            <a:avLst/>
          </a:prstGeom>
          <a:noFill/>
          <a:ln>
            <a:noFill/>
          </a:ln>
        </p:spPr>
      </p:pic>
      <p:pic>
        <p:nvPicPr>
          <p:cNvPr id="276" name="Google Shape;276;p38" title="Screenshot 2026-03-06 122141.png"/>
          <p:cNvPicPr preferRelativeResize="0"/>
          <p:nvPr/>
        </p:nvPicPr>
        <p:blipFill rotWithShape="1">
          <a:blip r:embed="rId4">
            <a:alphaModFix/>
          </a:blip>
          <a:srcRect b="2910" l="0" r="0" t="2919"/>
          <a:stretch/>
        </p:blipFill>
        <p:spPr>
          <a:xfrm>
            <a:off x="7157773" y="789500"/>
            <a:ext cx="2526224" cy="2526224"/>
          </a:xfrm>
          <a:prstGeom prst="rect">
            <a:avLst/>
          </a:prstGeom>
          <a:noFill/>
          <a:ln>
            <a:noFill/>
          </a:ln>
        </p:spPr>
      </p:pic>
      <p:pic>
        <p:nvPicPr>
          <p:cNvPr id="277" name="Google Shape;277;p38" title="Screenshot 2026-03-06 122401.png"/>
          <p:cNvPicPr preferRelativeResize="0"/>
          <p:nvPr/>
        </p:nvPicPr>
        <p:blipFill rotWithShape="1">
          <a:blip r:embed="rId5">
            <a:alphaModFix/>
          </a:blip>
          <a:srcRect b="1759" l="0" r="0" t="0"/>
          <a:stretch/>
        </p:blipFill>
        <p:spPr>
          <a:xfrm>
            <a:off x="5170675" y="3409450"/>
            <a:ext cx="4513325" cy="3859225"/>
          </a:xfrm>
          <a:prstGeom prst="rect">
            <a:avLst/>
          </a:prstGeom>
          <a:noFill/>
          <a:ln>
            <a:noFill/>
          </a:ln>
        </p:spPr>
      </p:pic>
      <p:sp>
        <p:nvSpPr>
          <p:cNvPr id="278" name="Google Shape;278;p38"/>
          <p:cNvSpPr txBox="1"/>
          <p:nvPr/>
        </p:nvSpPr>
        <p:spPr>
          <a:xfrm>
            <a:off x="360000" y="0"/>
            <a:ext cx="35055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13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Add portfolio drawdown visualization to show peak-to-trough losses over time.</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Add rolling volatility chart to illustrate how portfolio risk changes across market regimes.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Create a risk contribution by asset visualization to show which holdings drive portfolio risk.</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Improve dashboard storytelling so stakeholders can quickly identify risk concentration and downside exposure.</a:t>
            </a:r>
            <a:endParaRPr sz="1200">
              <a:latin typeface="Courier New"/>
              <a:ea typeface="Courier New"/>
              <a:cs typeface="Courier New"/>
              <a:sym typeface="Courier New"/>
            </a:endParaRPr>
          </a:p>
        </p:txBody>
      </p:sp>
      <p:sp>
        <p:nvSpPr>
          <p:cNvPr id="279" name="Google Shape;279;p38"/>
          <p:cNvSpPr txBox="1"/>
          <p:nvPr/>
        </p:nvSpPr>
        <p:spPr>
          <a:xfrm>
            <a:off x="128725" y="4823775"/>
            <a:ext cx="4513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200" u="sng">
                <a:latin typeface="Courier New"/>
                <a:ea typeface="Courier New"/>
                <a:cs typeface="Courier New"/>
                <a:sym typeface="Courier New"/>
              </a:rPr>
              <a:t>On Day 13 I….:</a:t>
            </a:r>
            <a:br>
              <a:rPr b="1" lang="ru" sz="1200" u="sng">
                <a:latin typeface="Courier New"/>
                <a:ea typeface="Courier New"/>
                <a:cs typeface="Courier New"/>
                <a:sym typeface="Courier New"/>
              </a:rPr>
            </a:br>
            <a:br>
              <a:rPr b="1" lang="ru" sz="1200" u="sng">
                <a:latin typeface="Courier New"/>
                <a:ea typeface="Courier New"/>
                <a:cs typeface="Courier New"/>
                <a:sym typeface="Courier New"/>
              </a:rPr>
            </a:br>
            <a:r>
              <a:rPr lang="ru" sz="1200">
                <a:latin typeface="Courier New"/>
                <a:ea typeface="Courier New"/>
                <a:cs typeface="Courier New"/>
                <a:sym typeface="Courier New"/>
              </a:rPr>
              <a:t> expanded the dashboard from performance monitoring to downside risk </a:t>
            </a:r>
            <a:r>
              <a:rPr lang="ru" sz="1200">
                <a:latin typeface="Courier New"/>
                <a:ea typeface="Courier New"/>
                <a:cs typeface="Courier New"/>
                <a:sym typeface="Courier New"/>
              </a:rPr>
              <a:t>analytics</a:t>
            </a:r>
            <a:r>
              <a:rPr lang="ru" sz="1200">
                <a:latin typeface="Courier New"/>
                <a:ea typeface="Courier New"/>
                <a:cs typeface="Courier New"/>
                <a:sym typeface="Courier New"/>
              </a:rPr>
              <a:t> by adding rolling volatility and portfolio drawdown visualizations. These charts help identify periods of elevated risk, peak-to-trough losses, and recovery dynamics, allowing stakeholders to better understand portfolio stability and downside exposure.</a:t>
            </a:r>
            <a:endParaRPr sz="1200">
              <a:latin typeface="Courier New"/>
              <a:ea typeface="Courier New"/>
              <a:cs typeface="Courier New"/>
              <a:sym typeface="Courier New"/>
            </a:endParaRPr>
          </a:p>
        </p:txBody>
      </p:sp>
      <p:sp>
        <p:nvSpPr>
          <p:cNvPr id="280" name="Google Shape;280;p38"/>
          <p:cNvSpPr txBox="1"/>
          <p:nvPr/>
        </p:nvSpPr>
        <p:spPr>
          <a:xfrm>
            <a:off x="41629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Rolling Volatility Chart</a:t>
            </a:r>
            <a:endParaRPr sz="1800">
              <a:solidFill>
                <a:schemeClr val="dk2"/>
              </a:solidFill>
            </a:endParaRPr>
          </a:p>
        </p:txBody>
      </p:sp>
      <p:sp>
        <p:nvSpPr>
          <p:cNvPr id="281" name="Google Shape;281;p38"/>
          <p:cNvSpPr txBox="1"/>
          <p:nvPr/>
        </p:nvSpPr>
        <p:spPr>
          <a:xfrm>
            <a:off x="70540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Creating New Measures </a:t>
            </a:r>
            <a:endParaRPr sz="1800">
              <a:solidFill>
                <a:schemeClr val="dk2"/>
              </a:solidFill>
            </a:endParaRPr>
          </a:p>
        </p:txBody>
      </p:sp>
      <p:sp>
        <p:nvSpPr>
          <p:cNvPr id="282" name="Google Shape;282;p38"/>
          <p:cNvSpPr txBox="1"/>
          <p:nvPr/>
        </p:nvSpPr>
        <p:spPr>
          <a:xfrm>
            <a:off x="5802300" y="73624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Portfolio Drawdown Curve</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6" name="Shape 286"/>
        <p:cNvGrpSpPr/>
        <p:nvPr/>
      </p:nvGrpSpPr>
      <p:grpSpPr>
        <a:xfrm>
          <a:off x="0" y="0"/>
          <a:ext cx="0" cy="0"/>
          <a:chOff x="0" y="0"/>
          <a:chExt cx="0" cy="0"/>
        </a:xfrm>
      </p:grpSpPr>
      <p:pic>
        <p:nvPicPr>
          <p:cNvPr id="287" name="Google Shape;287;p39" title="happy-gilmore-fb.jpg"/>
          <p:cNvPicPr preferRelativeResize="0"/>
          <p:nvPr/>
        </p:nvPicPr>
        <p:blipFill rotWithShape="1">
          <a:blip r:embed="rId3">
            <a:alphaModFix/>
          </a:blip>
          <a:srcRect b="0" l="865" r="23890" t="0"/>
          <a:stretch/>
        </p:blipFill>
        <p:spPr>
          <a:xfrm>
            <a:off x="2775325" y="2692775"/>
            <a:ext cx="6908674" cy="4794150"/>
          </a:xfrm>
          <a:prstGeom prst="rect">
            <a:avLst/>
          </a:prstGeom>
          <a:noFill/>
          <a:ln>
            <a:noFill/>
          </a:ln>
          <a:effectLst>
            <a:outerShdw blurRad="500063" rotWithShape="0" algn="bl" dir="5400000" dist="190500">
              <a:srgbClr val="000000">
                <a:alpha val="71000"/>
              </a:srgbClr>
            </a:outerShdw>
          </a:effectLst>
        </p:spPr>
      </p:pic>
      <p:sp>
        <p:nvSpPr>
          <p:cNvPr id="288" name="Google Shape;288;p39"/>
          <p:cNvSpPr txBox="1"/>
          <p:nvPr/>
        </p:nvSpPr>
        <p:spPr>
          <a:xfrm>
            <a:off x="0" y="0"/>
            <a:ext cx="6128700" cy="2816700"/>
          </a:xfrm>
          <a:prstGeom prst="rect">
            <a:avLst/>
          </a:prstGeom>
          <a:noFill/>
          <a:ln>
            <a:noFill/>
          </a:ln>
        </p:spPr>
        <p:txBody>
          <a:bodyPr anchorCtr="0" anchor="t" bIns="91425" lIns="91425" spcFirstLastPara="1" rIns="91425" wrap="square" tIns="91425">
            <a:spAutoFit/>
          </a:bodyPr>
          <a:lstStyle/>
          <a:p>
            <a:pPr indent="0" lvl="0" marL="457200" rtl="0" algn="ctr">
              <a:lnSpc>
                <a:spcPct val="100000"/>
              </a:lnSpc>
              <a:spcBef>
                <a:spcPts val="0"/>
              </a:spcBef>
              <a:spcAft>
                <a:spcPts val="0"/>
              </a:spcAft>
              <a:buNone/>
            </a:pPr>
            <a:r>
              <a:rPr b="1" i="1" lang="ru" sz="2900">
                <a:latin typeface="Courier New"/>
                <a:ea typeface="Courier New"/>
                <a:cs typeface="Courier New"/>
                <a:sym typeface="Courier New"/>
              </a:rPr>
              <a:t>The final step</a:t>
            </a:r>
            <a:r>
              <a:rPr b="1" i="1" lang="ru" sz="2200">
                <a:latin typeface="Courier New"/>
                <a:ea typeface="Courier New"/>
                <a:cs typeface="Courier New"/>
                <a:sym typeface="Courier New"/>
              </a:rPr>
              <a:t> </a:t>
            </a:r>
            <a:r>
              <a:rPr lang="ru" sz="1700">
                <a:latin typeface="Courier New"/>
                <a:ea typeface="Courier New"/>
                <a:cs typeface="Courier New"/>
                <a:sym typeface="Courier New"/>
              </a:rPr>
              <a:t>is to replicate the dashboard in Tableau.</a:t>
            </a:r>
            <a:endParaRPr sz="1700">
              <a:latin typeface="Courier New"/>
              <a:ea typeface="Courier New"/>
              <a:cs typeface="Courier New"/>
              <a:sym typeface="Courier New"/>
            </a:endParaRPr>
          </a:p>
          <a:p>
            <a:pPr indent="0" lvl="0" marL="457200" rtl="0" algn="ctr">
              <a:lnSpc>
                <a:spcPct val="100000"/>
              </a:lnSpc>
              <a:spcBef>
                <a:spcPts val="0"/>
              </a:spcBef>
              <a:spcAft>
                <a:spcPts val="0"/>
              </a:spcAft>
              <a:buNone/>
            </a:pPr>
            <a:r>
              <a:t/>
            </a:r>
            <a:endParaRPr sz="1200">
              <a:latin typeface="Courier New"/>
              <a:ea typeface="Courier New"/>
              <a:cs typeface="Courier New"/>
              <a:sym typeface="Courier New"/>
            </a:endParaRPr>
          </a:p>
          <a:p>
            <a:pPr indent="0" lvl="0" marL="457200" rtl="0" algn="ctr">
              <a:lnSpc>
                <a:spcPct val="100000"/>
              </a:lnSpc>
              <a:spcBef>
                <a:spcPts val="0"/>
              </a:spcBef>
              <a:spcAft>
                <a:spcPts val="0"/>
              </a:spcAft>
              <a:buNone/>
            </a:pPr>
            <a:r>
              <a:rPr b="1" i="1" lang="ru" sz="2800">
                <a:latin typeface="Courier New"/>
                <a:ea typeface="Courier New"/>
                <a:cs typeface="Courier New"/>
                <a:sym typeface="Courier New"/>
              </a:rPr>
              <a:t>The goal</a:t>
            </a:r>
            <a:r>
              <a:rPr lang="ru" sz="1200">
                <a:latin typeface="Courier New"/>
                <a:ea typeface="Courier New"/>
                <a:cs typeface="Courier New"/>
                <a:sym typeface="Courier New"/>
              </a:rPr>
              <a:t> </a:t>
            </a:r>
            <a:r>
              <a:rPr lang="ru" sz="1700">
                <a:latin typeface="Courier New"/>
                <a:ea typeface="Courier New"/>
                <a:cs typeface="Courier New"/>
                <a:sym typeface="Courier New"/>
              </a:rPr>
              <a:t>is not to rebuild everything perfectly, but to show I can work in multiple BI tools:</a:t>
            </a:r>
            <a:endParaRPr sz="1700">
              <a:latin typeface="Courier New"/>
              <a:ea typeface="Courier New"/>
              <a:cs typeface="Courier New"/>
              <a:sym typeface="Courier New"/>
            </a:endParaRPr>
          </a:p>
          <a:p>
            <a:pPr indent="0" lvl="0" marL="457200" rtl="0" algn="ctr">
              <a:lnSpc>
                <a:spcPct val="100000"/>
              </a:lnSpc>
              <a:spcBef>
                <a:spcPts val="0"/>
              </a:spcBef>
              <a:spcAft>
                <a:spcPts val="0"/>
              </a:spcAft>
              <a:buNone/>
            </a:pPr>
            <a:r>
              <a:t/>
            </a:r>
            <a:endParaRPr sz="17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700">
                <a:latin typeface="Courier New"/>
                <a:ea typeface="Courier New"/>
                <a:cs typeface="Courier New"/>
                <a:sym typeface="Courier New"/>
              </a:rPr>
              <a:t>Power BI → </a:t>
            </a:r>
            <a:r>
              <a:rPr lang="ru" sz="1700">
                <a:latin typeface="Courier New"/>
                <a:ea typeface="Courier New"/>
                <a:cs typeface="Courier New"/>
                <a:sym typeface="Courier New"/>
              </a:rPr>
              <a:t>analytics</a:t>
            </a:r>
            <a:r>
              <a:rPr lang="ru" sz="1700">
                <a:latin typeface="Courier New"/>
                <a:ea typeface="Courier New"/>
                <a:cs typeface="Courier New"/>
                <a:sym typeface="Courier New"/>
              </a:rPr>
              <a:t> dashboard</a:t>
            </a:r>
            <a:endParaRPr sz="1700">
              <a:latin typeface="Courier New"/>
              <a:ea typeface="Courier New"/>
              <a:cs typeface="Courier New"/>
              <a:sym typeface="Courier New"/>
            </a:endParaRPr>
          </a:p>
          <a:p>
            <a:pPr indent="0" lvl="0" marL="457200" rtl="0" algn="ctr">
              <a:lnSpc>
                <a:spcPct val="100000"/>
              </a:lnSpc>
              <a:spcBef>
                <a:spcPts val="0"/>
              </a:spcBef>
              <a:spcAft>
                <a:spcPts val="0"/>
              </a:spcAft>
              <a:buNone/>
            </a:pPr>
            <a:r>
              <a:rPr lang="ru" sz="1700">
                <a:latin typeface="Courier New"/>
                <a:ea typeface="Courier New"/>
                <a:cs typeface="Courier New"/>
                <a:sym typeface="Courier New"/>
              </a:rPr>
              <a:t>Tableau → visual replication</a:t>
            </a:r>
            <a:endParaRPr sz="1700">
              <a:latin typeface="Courier New"/>
              <a:ea typeface="Courier New"/>
              <a:cs typeface="Courier New"/>
              <a:sym typeface="Courier New"/>
            </a:endParaRPr>
          </a:p>
        </p:txBody>
      </p:sp>
      <p:sp>
        <p:nvSpPr>
          <p:cNvPr id="289" name="Google Shape;289;p39"/>
          <p:cNvSpPr txBox="1"/>
          <p:nvPr/>
        </p:nvSpPr>
        <p:spPr>
          <a:xfrm>
            <a:off x="360000" y="4875050"/>
            <a:ext cx="2891100" cy="16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Almost There!!!</a:t>
            </a:r>
            <a:br>
              <a:rPr lang="ru" sz="1800">
                <a:solidFill>
                  <a:schemeClr val="dk2"/>
                </a:solidFill>
              </a:rPr>
            </a:br>
            <a:br>
              <a:rPr lang="ru" sz="1800">
                <a:solidFill>
                  <a:schemeClr val="dk2"/>
                </a:solidFill>
              </a:rPr>
            </a:br>
            <a:br>
              <a:rPr lang="ru" sz="1800">
                <a:solidFill>
                  <a:schemeClr val="dk2"/>
                </a:solidFill>
              </a:rPr>
            </a:br>
            <a:r>
              <a:rPr lang="ru" sz="1800">
                <a:solidFill>
                  <a:schemeClr val="dk2"/>
                </a:solidFill>
              </a:rPr>
              <a:t>Just Tap it in!</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93" name="Shape 293"/>
        <p:cNvGrpSpPr/>
        <p:nvPr/>
      </p:nvGrpSpPr>
      <p:grpSpPr>
        <a:xfrm>
          <a:off x="0" y="0"/>
          <a:ext cx="0" cy="0"/>
          <a:chOff x="0" y="0"/>
          <a:chExt cx="0" cy="0"/>
        </a:xfrm>
      </p:grpSpPr>
      <p:pic>
        <p:nvPicPr>
          <p:cNvPr id="294" name="Google Shape;294;p40" title="Screenshot 2026-03-06 124442.png"/>
          <p:cNvPicPr preferRelativeResize="0"/>
          <p:nvPr/>
        </p:nvPicPr>
        <p:blipFill rotWithShape="1">
          <a:blip r:embed="rId3">
            <a:alphaModFix/>
          </a:blip>
          <a:srcRect b="14849" l="0" r="0" t="14842"/>
          <a:stretch/>
        </p:blipFill>
        <p:spPr>
          <a:xfrm>
            <a:off x="4178225" y="789500"/>
            <a:ext cx="2526225" cy="2526225"/>
          </a:xfrm>
          <a:prstGeom prst="rect">
            <a:avLst/>
          </a:prstGeom>
          <a:noFill/>
          <a:ln>
            <a:noFill/>
          </a:ln>
        </p:spPr>
      </p:pic>
      <p:pic>
        <p:nvPicPr>
          <p:cNvPr id="295" name="Google Shape;295;p40" title="Screenshot 2026-03-06 124855.png"/>
          <p:cNvPicPr preferRelativeResize="0"/>
          <p:nvPr/>
        </p:nvPicPr>
        <p:blipFill rotWithShape="1">
          <a:blip r:embed="rId4">
            <a:alphaModFix/>
          </a:blip>
          <a:srcRect b="15147" l="0" r="0" t="15147"/>
          <a:stretch/>
        </p:blipFill>
        <p:spPr>
          <a:xfrm>
            <a:off x="7157773" y="789500"/>
            <a:ext cx="2526224" cy="2526223"/>
          </a:xfrm>
          <a:prstGeom prst="rect">
            <a:avLst/>
          </a:prstGeom>
          <a:noFill/>
          <a:ln>
            <a:noFill/>
          </a:ln>
        </p:spPr>
      </p:pic>
      <p:pic>
        <p:nvPicPr>
          <p:cNvPr id="296" name="Google Shape;296;p40" title="Screenshot 2026-03-06 125741.png"/>
          <p:cNvPicPr preferRelativeResize="0"/>
          <p:nvPr/>
        </p:nvPicPr>
        <p:blipFill rotWithShape="1">
          <a:blip r:embed="rId5">
            <a:alphaModFix/>
          </a:blip>
          <a:srcRect b="9962" l="0" r="0" t="9954"/>
          <a:stretch/>
        </p:blipFill>
        <p:spPr>
          <a:xfrm>
            <a:off x="5170675" y="3869400"/>
            <a:ext cx="4513325" cy="3008149"/>
          </a:xfrm>
          <a:prstGeom prst="rect">
            <a:avLst/>
          </a:prstGeom>
          <a:noFill/>
          <a:ln>
            <a:noFill/>
          </a:ln>
        </p:spPr>
      </p:pic>
      <p:sp>
        <p:nvSpPr>
          <p:cNvPr id="297" name="Google Shape;297;p40"/>
          <p:cNvSpPr txBox="1"/>
          <p:nvPr/>
        </p:nvSpPr>
        <p:spPr>
          <a:xfrm>
            <a:off x="360000" y="0"/>
            <a:ext cx="35055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b="1" lang="ru" sz="2600" u="sng">
                <a:latin typeface="Courier New"/>
                <a:ea typeface="Courier New"/>
                <a:cs typeface="Courier New"/>
                <a:sym typeface="Courier New"/>
              </a:rPr>
              <a:t>Day 14 Objective</a:t>
            </a:r>
            <a:endParaRPr b="1" sz="2600" u="sng">
              <a:latin typeface="Courier New"/>
              <a:ea typeface="Courier New"/>
              <a:cs typeface="Courier New"/>
              <a:sym typeface="Courier New"/>
            </a:endParaRPr>
          </a:p>
          <a:p>
            <a:pPr indent="0" lvl="0" marL="0" rtl="0" algn="l">
              <a:spcBef>
                <a:spcPts val="0"/>
              </a:spcBef>
              <a:spcAft>
                <a:spcPts val="0"/>
              </a:spcAft>
              <a:buNone/>
            </a:pPr>
            <a:r>
              <a:t/>
            </a:r>
            <a:endParaRPr b="1"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By the end of today I will:</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Replicate the portfolio risk dashboard in Tableau using the same datasets used in Power BI.</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Demonstrate the ability to translate financial analytics across BI platforms.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Recreate the core visuals: portfolio returns, rolling volatility, drawdown, asset return comparison, and KPI metrics.</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ru" sz="1200">
                <a:latin typeface="Courier New"/>
                <a:ea typeface="Courier New"/>
                <a:cs typeface="Courier New"/>
                <a:sym typeface="Courier New"/>
              </a:rPr>
              <a:t>-</a:t>
            </a:r>
            <a:r>
              <a:rPr lang="ru" sz="1200">
                <a:latin typeface="Courier New"/>
                <a:ea typeface="Courier New"/>
                <a:cs typeface="Courier New"/>
                <a:sym typeface="Courier New"/>
              </a:rPr>
              <a:t>Show proficiency in data visualization tools commonly used in fintech and analytics roles.</a:t>
            </a:r>
            <a:endParaRPr sz="1200">
              <a:latin typeface="Courier New"/>
              <a:ea typeface="Courier New"/>
              <a:cs typeface="Courier New"/>
              <a:sym typeface="Courier New"/>
            </a:endParaRPr>
          </a:p>
        </p:txBody>
      </p:sp>
      <p:sp>
        <p:nvSpPr>
          <p:cNvPr id="298" name="Google Shape;298;p40"/>
          <p:cNvSpPr txBox="1"/>
          <p:nvPr/>
        </p:nvSpPr>
        <p:spPr>
          <a:xfrm>
            <a:off x="178275" y="5190000"/>
            <a:ext cx="45132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a:latin typeface="Courier New"/>
                <a:ea typeface="Courier New"/>
                <a:cs typeface="Courier New"/>
                <a:sym typeface="Courier New"/>
              </a:rPr>
              <a:t>On Day 14 I….</a:t>
            </a: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recreated the portfolio risk dashboard in Tableau using the same datasets used in Power BI. This demonstrated my ability to translate financial analysis and risk metrics across different BI platforms, ensuring the insights remain consistent while adapting the visualization approach to a different tool.</a:t>
            </a:r>
            <a:endParaRPr sz="1200">
              <a:latin typeface="Courier New"/>
              <a:ea typeface="Courier New"/>
              <a:cs typeface="Courier New"/>
              <a:sym typeface="Courier New"/>
            </a:endParaRPr>
          </a:p>
        </p:txBody>
      </p:sp>
      <p:sp>
        <p:nvSpPr>
          <p:cNvPr id="299" name="Google Shape;299;p40"/>
          <p:cNvSpPr txBox="1"/>
          <p:nvPr/>
        </p:nvSpPr>
        <p:spPr>
          <a:xfrm>
            <a:off x="41629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Portfolio Returns Chart</a:t>
            </a:r>
            <a:endParaRPr sz="1800">
              <a:solidFill>
                <a:schemeClr val="dk2"/>
              </a:solidFill>
            </a:endParaRPr>
          </a:p>
        </p:txBody>
      </p:sp>
      <p:sp>
        <p:nvSpPr>
          <p:cNvPr id="300" name="Google Shape;300;p40"/>
          <p:cNvSpPr txBox="1"/>
          <p:nvPr/>
        </p:nvSpPr>
        <p:spPr>
          <a:xfrm>
            <a:off x="7054075" y="231275"/>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Rolling Volatility</a:t>
            </a:r>
            <a:endParaRPr sz="1800">
              <a:solidFill>
                <a:schemeClr val="dk2"/>
              </a:solidFill>
            </a:endParaRPr>
          </a:p>
        </p:txBody>
      </p:sp>
      <p:sp>
        <p:nvSpPr>
          <p:cNvPr id="301" name="Google Shape;301;p40"/>
          <p:cNvSpPr txBox="1"/>
          <p:nvPr/>
        </p:nvSpPr>
        <p:spPr>
          <a:xfrm>
            <a:off x="5769250" y="7090700"/>
            <a:ext cx="3680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Tableau Dashboard</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5" name="Shape 305"/>
        <p:cNvGrpSpPr/>
        <p:nvPr/>
      </p:nvGrpSpPr>
      <p:grpSpPr>
        <a:xfrm>
          <a:off x="0" y="0"/>
          <a:ext cx="0" cy="0"/>
          <a:chOff x="0" y="0"/>
          <a:chExt cx="0" cy="0"/>
        </a:xfrm>
      </p:grpSpPr>
      <p:pic>
        <p:nvPicPr>
          <p:cNvPr id="306" name="Google Shape;306;p41" title="gatsby.jpg"/>
          <p:cNvPicPr preferRelativeResize="0"/>
          <p:nvPr/>
        </p:nvPicPr>
        <p:blipFill rotWithShape="1">
          <a:blip r:embed="rId3">
            <a:alphaModFix/>
          </a:blip>
          <a:srcRect b="0" l="21923" r="21923" t="0"/>
          <a:stretch/>
        </p:blipFill>
        <p:spPr>
          <a:xfrm>
            <a:off x="6669775" y="3892425"/>
            <a:ext cx="3126299" cy="3126298"/>
          </a:xfrm>
          <a:prstGeom prst="rect">
            <a:avLst/>
          </a:prstGeom>
          <a:noFill/>
          <a:ln>
            <a:noFill/>
          </a:ln>
          <a:effectLst>
            <a:outerShdw blurRad="571500" rotWithShape="0" algn="bl" dir="5400000" dist="171450">
              <a:srgbClr val="000000">
                <a:alpha val="50000"/>
              </a:srgbClr>
            </a:outerShdw>
          </a:effectLst>
        </p:spPr>
      </p:pic>
      <p:sp>
        <p:nvSpPr>
          <p:cNvPr id="307" name="Google Shape;307;p41"/>
          <p:cNvSpPr txBox="1"/>
          <p:nvPr/>
        </p:nvSpPr>
        <p:spPr>
          <a:xfrm>
            <a:off x="987150" y="270415"/>
            <a:ext cx="80697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sz="2100">
                <a:latin typeface="Courier New"/>
                <a:ea typeface="Courier New"/>
                <a:cs typeface="Courier New"/>
                <a:sym typeface="Courier New"/>
              </a:rPr>
              <a:t>Lessons Learned</a:t>
            </a:r>
            <a:endParaRPr b="1" sz="2100">
              <a:latin typeface="Courier New"/>
              <a:ea typeface="Courier New"/>
              <a:cs typeface="Courier New"/>
              <a:sym typeface="Courier New"/>
            </a:endParaRPr>
          </a:p>
        </p:txBody>
      </p:sp>
      <p:pic>
        <p:nvPicPr>
          <p:cNvPr id="308" name="Google Shape;308;p41" title="Screenshot 2026-02-27 093504.png"/>
          <p:cNvPicPr preferRelativeResize="0"/>
          <p:nvPr/>
        </p:nvPicPr>
        <p:blipFill rotWithShape="1">
          <a:blip r:embed="rId4">
            <a:alphaModFix/>
          </a:blip>
          <a:srcRect b="0" l="0" r="10072" t="0"/>
          <a:stretch/>
        </p:blipFill>
        <p:spPr>
          <a:xfrm>
            <a:off x="360000" y="4730700"/>
            <a:ext cx="3010049" cy="2685301"/>
          </a:xfrm>
          <a:prstGeom prst="rect">
            <a:avLst/>
          </a:prstGeom>
          <a:noFill/>
          <a:ln>
            <a:noFill/>
          </a:ln>
        </p:spPr>
      </p:pic>
      <p:sp>
        <p:nvSpPr>
          <p:cNvPr id="309" name="Google Shape;309;p41"/>
          <p:cNvSpPr txBox="1"/>
          <p:nvPr/>
        </p:nvSpPr>
        <p:spPr>
          <a:xfrm>
            <a:off x="360000" y="934915"/>
            <a:ext cx="8069700" cy="1508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a:latin typeface="Courier New"/>
                <a:ea typeface="Courier New"/>
                <a:cs typeface="Courier New"/>
                <a:sym typeface="Courier New"/>
              </a:rPr>
              <a:t>Figure 1A.</a:t>
            </a:r>
            <a:r>
              <a:rPr b="1" lang="ru" sz="1200">
                <a:latin typeface="Courier New"/>
                <a:ea typeface="Courier New"/>
                <a:cs typeface="Courier New"/>
                <a:sym typeface="Courier New"/>
              </a:rPr>
              <a:t> : </a:t>
            </a:r>
            <a:r>
              <a:rPr lang="ru" sz="1200">
                <a:latin typeface="Courier New"/>
                <a:ea typeface="Courier New"/>
                <a:cs typeface="Courier New"/>
                <a:sym typeface="Courier New"/>
              </a:rPr>
              <a:t>Because Jupyter notebooks are stateful, variables must be re-executed if the kernel restarts. Stateful means the notebook only remembers things as long as it is running. Since I turned off the computer at night , I have to now rerun the code.</a:t>
            </a:r>
            <a:br>
              <a:rPr lang="ru" sz="1200">
                <a:latin typeface="Courier New"/>
                <a:ea typeface="Courier New"/>
                <a:cs typeface="Courier New"/>
                <a:sym typeface="Courier New"/>
              </a:rPr>
            </a:br>
            <a:br>
              <a:rPr lang="ru" sz="1200">
                <a:latin typeface="Courier New"/>
                <a:ea typeface="Courier New"/>
                <a:cs typeface="Courier New"/>
                <a:sym typeface="Courier New"/>
              </a:rPr>
            </a:br>
            <a:r>
              <a:rPr lang="ru" sz="1200">
                <a:latin typeface="Courier New"/>
                <a:ea typeface="Courier New"/>
                <a:cs typeface="Courier New"/>
                <a:sym typeface="Courier New"/>
              </a:rPr>
              <a:t>Steps: 1. re-import libraries 2. Re-download data 3. </a:t>
            </a:r>
            <a:r>
              <a:rPr lang="ru" sz="1200">
                <a:latin typeface="Courier New"/>
                <a:ea typeface="Courier New"/>
                <a:cs typeface="Courier New"/>
                <a:sym typeface="Courier New"/>
              </a:rPr>
              <a:t>Change</a:t>
            </a:r>
            <a:r>
              <a:rPr lang="ru" sz="1200">
                <a:latin typeface="Courier New"/>
                <a:ea typeface="Courier New"/>
                <a:cs typeface="Courier New"/>
                <a:sym typeface="Courier New"/>
              </a:rPr>
              <a:t> variable name of dataset from “close” to “Adj close” 4. Convert from wide to long format 5. Save it!</a:t>
            </a:r>
            <a:endParaRPr sz="1200">
              <a:latin typeface="Courier New"/>
              <a:ea typeface="Courier New"/>
              <a:cs typeface="Courier New"/>
              <a:sym typeface="Courier New"/>
            </a:endParaRPr>
          </a:p>
        </p:txBody>
      </p:sp>
      <p:sp>
        <p:nvSpPr>
          <p:cNvPr id="310" name="Google Shape;310;p41"/>
          <p:cNvSpPr txBox="1"/>
          <p:nvPr/>
        </p:nvSpPr>
        <p:spPr>
          <a:xfrm>
            <a:off x="3933100" y="4301100"/>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Figure 2A</a:t>
            </a:r>
            <a:endParaRPr sz="1800">
              <a:solidFill>
                <a:schemeClr val="dk2"/>
              </a:solidFill>
            </a:endParaRPr>
          </a:p>
        </p:txBody>
      </p:sp>
      <p:sp>
        <p:nvSpPr>
          <p:cNvPr id="311" name="Google Shape;311;p41"/>
          <p:cNvSpPr txBox="1"/>
          <p:nvPr/>
        </p:nvSpPr>
        <p:spPr>
          <a:xfrm>
            <a:off x="6669775" y="3307425"/>
            <a:ext cx="3126300" cy="5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Thanks for Reading!</a:t>
            </a:r>
            <a:endParaRPr sz="1800">
              <a:solidFill>
                <a:schemeClr val="dk2"/>
              </a:solidFill>
            </a:endParaRPr>
          </a:p>
        </p:txBody>
      </p:sp>
      <p:sp>
        <p:nvSpPr>
          <p:cNvPr id="312" name="Google Shape;312;p41"/>
          <p:cNvSpPr txBox="1"/>
          <p:nvPr/>
        </p:nvSpPr>
        <p:spPr>
          <a:xfrm>
            <a:off x="419475" y="4057450"/>
            <a:ext cx="28911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Figure 1A</a:t>
            </a:r>
            <a:endParaRPr sz="1800">
              <a:solidFill>
                <a:schemeClr val="dk2"/>
              </a:solidFill>
            </a:endParaRPr>
          </a:p>
        </p:txBody>
      </p:sp>
      <p:pic>
        <p:nvPicPr>
          <p:cNvPr id="313" name="Google Shape;313;p41" title="Screenshot 2026-02-27 094713.png"/>
          <p:cNvPicPr preferRelativeResize="0"/>
          <p:nvPr/>
        </p:nvPicPr>
        <p:blipFill rotWithShape="1">
          <a:blip r:embed="rId5">
            <a:alphaModFix/>
          </a:blip>
          <a:srcRect b="0" l="14358" r="14351" t="0"/>
          <a:stretch/>
        </p:blipFill>
        <p:spPr>
          <a:xfrm>
            <a:off x="3933100" y="4972450"/>
            <a:ext cx="2443551" cy="2443551"/>
          </a:xfrm>
          <a:prstGeom prst="rect">
            <a:avLst/>
          </a:prstGeom>
          <a:noFill/>
          <a:ln>
            <a:noFill/>
          </a:ln>
        </p:spPr>
      </p:pic>
      <p:sp>
        <p:nvSpPr>
          <p:cNvPr id="314" name="Google Shape;314;p41"/>
          <p:cNvSpPr txBox="1"/>
          <p:nvPr/>
        </p:nvSpPr>
        <p:spPr>
          <a:xfrm>
            <a:off x="360000" y="2582877"/>
            <a:ext cx="8069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ru">
                <a:latin typeface="Courier New"/>
                <a:ea typeface="Courier New"/>
                <a:cs typeface="Courier New"/>
                <a:sym typeface="Courier New"/>
              </a:rPr>
              <a:t>Figure 2A.</a:t>
            </a:r>
            <a:r>
              <a:rPr b="1" lang="ru" sz="1200">
                <a:latin typeface="Courier New"/>
                <a:ea typeface="Courier New"/>
                <a:cs typeface="Courier New"/>
                <a:sym typeface="Courier New"/>
              </a:rPr>
              <a:t> : </a:t>
            </a:r>
            <a:r>
              <a:rPr lang="ru" sz="1200">
                <a:latin typeface="Courier New"/>
                <a:ea typeface="Courier New"/>
                <a:cs typeface="Courier New"/>
                <a:sym typeface="Courier New"/>
              </a:rPr>
              <a:t> Date column stored as text therefore must be date or time series analysis won't be clean</a:t>
            </a:r>
            <a:endParaRPr sz="120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